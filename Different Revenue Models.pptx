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Poppins"/>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oppins-bold.fntdata"/><Relationship Id="rId10" Type="http://schemas.openxmlformats.org/officeDocument/2006/relationships/font" Target="fonts/Poppins-regular.fntdata"/><Relationship Id="rId13" Type="http://schemas.openxmlformats.org/officeDocument/2006/relationships/font" Target="fonts/Poppins-boldItalic.fntdata"/><Relationship Id="rId12"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721fbb9c8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6721fbb9c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6721fbb9c8_0_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6721fbb9c8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6721fbb9c8_0_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6721fbb9c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2400">
                <a:latin typeface="Poppins"/>
                <a:ea typeface="Poppins"/>
                <a:cs typeface="Poppins"/>
                <a:sym typeface="Poppins"/>
              </a:rPr>
              <a:t>Different Revenue Models</a:t>
            </a:r>
            <a:endParaRPr b="1" sz="240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5"/>
          <p:cNvPicPr preferRelativeResize="0"/>
          <p:nvPr/>
        </p:nvPicPr>
        <p:blipFill rotWithShape="1">
          <a:blip r:embed="rId3">
            <a:alphaModFix/>
          </a:blip>
          <a:srcRect b="0" l="0" r="0" t="0"/>
          <a:stretch/>
        </p:blipFill>
        <p:spPr>
          <a:xfrm>
            <a:off x="0" y="0"/>
            <a:ext cx="9143998" cy="5143502"/>
          </a:xfrm>
          <a:prstGeom prst="rect">
            <a:avLst/>
          </a:prstGeom>
          <a:noFill/>
          <a:ln>
            <a:noFill/>
          </a:ln>
        </p:spPr>
      </p:pic>
      <p:sp>
        <p:nvSpPr>
          <p:cNvPr id="61" name="Google Shape;61;p15"/>
          <p:cNvSpPr txBox="1"/>
          <p:nvPr/>
        </p:nvSpPr>
        <p:spPr>
          <a:xfrm>
            <a:off x="172956" y="1243700"/>
            <a:ext cx="26682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Poppins"/>
                <a:ea typeface="Poppins"/>
                <a:cs typeface="Poppins"/>
                <a:sym typeface="Poppins"/>
              </a:rPr>
              <a:t>Earned Income Model</a:t>
            </a:r>
            <a:endParaRPr b="0" i="0" sz="1100" u="none" cap="none" strike="noStrike">
              <a:solidFill>
                <a:srgbClr val="000000"/>
              </a:solidFill>
              <a:latin typeface="Arial"/>
              <a:ea typeface="Arial"/>
              <a:cs typeface="Arial"/>
              <a:sym typeface="Arial"/>
            </a:endParaRPr>
          </a:p>
        </p:txBody>
      </p:sp>
      <p:sp>
        <p:nvSpPr>
          <p:cNvPr id="62" name="Google Shape;62;p15"/>
          <p:cNvSpPr txBox="1"/>
          <p:nvPr/>
        </p:nvSpPr>
        <p:spPr>
          <a:xfrm>
            <a:off x="6654521" y="2083959"/>
            <a:ext cx="2094900" cy="608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FF0000"/>
                </a:solidFill>
                <a:highlight>
                  <a:srgbClr val="FFFF00"/>
                </a:highlight>
                <a:latin typeface="Arial"/>
                <a:ea typeface="Arial"/>
                <a:cs typeface="Arial"/>
                <a:sym typeface="Arial"/>
              </a:rPr>
              <a:t>https://www.freepik.com/premium-vector/rupee-bag-coin-showing-growth-financial-growing-chart-vector-illustration_31020588.htm#fromView=search&amp;page=1&amp;position=5&amp;uuid=b8dbb7f8-cfa1-4d7b-bc80-869235bf5df1&amp;query=income</a:t>
            </a:r>
            <a:endParaRPr b="0" i="0" sz="1100" u="none" cap="none" strike="noStrike">
              <a:solidFill>
                <a:srgbClr val="000000"/>
              </a:solidFill>
              <a:latin typeface="Arial"/>
              <a:ea typeface="Arial"/>
              <a:cs typeface="Arial"/>
              <a:sym typeface="Arial"/>
            </a:endParaRPr>
          </a:p>
        </p:txBody>
      </p:sp>
      <p:sp>
        <p:nvSpPr>
          <p:cNvPr id="63" name="Google Shape;63;p15"/>
          <p:cNvSpPr txBox="1"/>
          <p:nvPr/>
        </p:nvSpPr>
        <p:spPr>
          <a:xfrm>
            <a:off x="7227277" y="3202912"/>
            <a:ext cx="12510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highlight>
                  <a:srgbClr val="FFFF00"/>
                </a:highlight>
                <a:latin typeface="Arial"/>
                <a:ea typeface="Arial"/>
                <a:cs typeface="Arial"/>
                <a:sym typeface="Arial"/>
              </a:rPr>
              <a:t>Alt text: Money growing concept</a:t>
            </a:r>
            <a:endParaRPr b="0" i="0" sz="1100" u="none" cap="none" strike="noStrike">
              <a:solidFill>
                <a:srgbClr val="000000"/>
              </a:solidFill>
              <a:latin typeface="Arial"/>
              <a:ea typeface="Arial"/>
              <a:cs typeface="Arial"/>
              <a:sym typeface="Arial"/>
            </a:endParaRPr>
          </a:p>
        </p:txBody>
      </p:sp>
      <p:sp>
        <p:nvSpPr>
          <p:cNvPr id="64" name="Google Shape;64;p15"/>
          <p:cNvSpPr txBox="1"/>
          <p:nvPr/>
        </p:nvSpPr>
        <p:spPr>
          <a:xfrm>
            <a:off x="4372918" y="307061"/>
            <a:ext cx="45708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500" u="none" cap="none" strike="noStrike">
                <a:solidFill>
                  <a:srgbClr val="FF0000"/>
                </a:solidFill>
                <a:highlight>
                  <a:srgbClr val="FFFF00"/>
                </a:highlight>
                <a:latin typeface="Arial"/>
                <a:ea typeface="Arial"/>
                <a:cs typeface="Arial"/>
                <a:sym typeface="Arial"/>
              </a:rPr>
              <a:t>https://www.freepik.com/free-vector/v462-aew-03_4250480.htm#fromView=image_search_similar&amp;page=1&amp;position=43&amp;uuid=9512ac19-c934-4152-9505-c3ab980cffcb&amp;query=tear+newspaper</a:t>
            </a:r>
            <a:endParaRPr sz="1100"/>
          </a:p>
        </p:txBody>
      </p:sp>
      <p:sp>
        <p:nvSpPr>
          <p:cNvPr id="65" name="Google Shape;65;p15"/>
          <p:cNvSpPr txBox="1"/>
          <p:nvPr/>
        </p:nvSpPr>
        <p:spPr>
          <a:xfrm>
            <a:off x="114928" y="1906091"/>
            <a:ext cx="4631100" cy="2870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This model focuses on generating revenue by selling products or services that align with the organisation’s mission. Customers may include the public, beneficiaries, or partners. The income earned is reinvested to grow operations, improve services, and increase social impact. </a:t>
            </a:r>
            <a:endParaRPr b="0" i="0" sz="14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1400">
              <a:latin typeface="Poppins"/>
              <a:ea typeface="Poppins"/>
              <a:cs typeface="Poppins"/>
              <a:sym typeface="Poppins"/>
            </a:endParaRPr>
          </a:p>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For instance, SEWA in India sells hand-embroidered products made by women artisans. The revenue helps train more women and expand their reach. This model works well when there is a clear market demand and users can pay.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6"/>
          <p:cNvPicPr preferRelativeResize="0"/>
          <p:nvPr/>
        </p:nvPicPr>
        <p:blipFill rotWithShape="1">
          <a:blip r:embed="rId3">
            <a:alphaModFix/>
          </a:blip>
          <a:srcRect b="0" l="0" r="0" t="0"/>
          <a:stretch/>
        </p:blipFill>
        <p:spPr>
          <a:xfrm>
            <a:off x="0" y="0"/>
            <a:ext cx="9143998" cy="5143502"/>
          </a:xfrm>
          <a:prstGeom prst="rect">
            <a:avLst/>
          </a:prstGeom>
          <a:noFill/>
          <a:ln>
            <a:noFill/>
          </a:ln>
        </p:spPr>
      </p:pic>
      <p:sp>
        <p:nvSpPr>
          <p:cNvPr id="71" name="Google Shape;71;p16"/>
          <p:cNvSpPr txBox="1"/>
          <p:nvPr/>
        </p:nvSpPr>
        <p:spPr>
          <a:xfrm>
            <a:off x="172956" y="1243700"/>
            <a:ext cx="26682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Poppins"/>
                <a:ea typeface="Poppins"/>
                <a:cs typeface="Poppins"/>
                <a:sym typeface="Poppins"/>
              </a:rPr>
              <a:t>Grants Model</a:t>
            </a:r>
            <a:endParaRPr b="0" i="0" sz="1100" u="none" cap="none" strike="noStrike">
              <a:solidFill>
                <a:srgbClr val="000000"/>
              </a:solidFill>
              <a:latin typeface="Arial"/>
              <a:ea typeface="Arial"/>
              <a:cs typeface="Arial"/>
              <a:sym typeface="Arial"/>
            </a:endParaRPr>
          </a:p>
        </p:txBody>
      </p:sp>
      <p:sp>
        <p:nvSpPr>
          <p:cNvPr id="72" name="Google Shape;72;p16"/>
          <p:cNvSpPr txBox="1"/>
          <p:nvPr/>
        </p:nvSpPr>
        <p:spPr>
          <a:xfrm>
            <a:off x="4372918" y="307061"/>
            <a:ext cx="45708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500" u="none" cap="none" strike="noStrike">
                <a:solidFill>
                  <a:srgbClr val="FF0000"/>
                </a:solidFill>
                <a:highlight>
                  <a:srgbClr val="FFFF00"/>
                </a:highlight>
                <a:latin typeface="Arial"/>
                <a:ea typeface="Arial"/>
                <a:cs typeface="Arial"/>
                <a:sym typeface="Arial"/>
              </a:rPr>
              <a:t>https://www.freepik.com/free-vector/v462-aew-03_4250480.htm#fromView=image_search_similar&amp;page=1&amp;position=43&amp;uuid=9512ac19-c934-4152-9505-c3ab980cffcb&amp;query=tear+newspaper</a:t>
            </a:r>
            <a:endParaRPr sz="1100"/>
          </a:p>
        </p:txBody>
      </p:sp>
      <p:sp>
        <p:nvSpPr>
          <p:cNvPr id="73" name="Google Shape;73;p16"/>
          <p:cNvSpPr txBox="1"/>
          <p:nvPr/>
        </p:nvSpPr>
        <p:spPr>
          <a:xfrm>
            <a:off x="114938" y="1683975"/>
            <a:ext cx="4631100" cy="3301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This model is mostly used by non-profit organisations. Grants are non-repayable funds provided by governments, foundations or </a:t>
            </a:r>
            <a:r>
              <a:rPr b="0" i="0" lang="en" sz="1400" u="none" cap="none" strike="noStrike">
                <a:solidFill>
                  <a:srgbClr val="00B050"/>
                </a:solidFill>
                <a:latin typeface="Poppins"/>
                <a:ea typeface="Poppins"/>
                <a:cs typeface="Poppins"/>
                <a:sym typeface="Poppins"/>
              </a:rPr>
              <a:t>philanthropic institutions </a:t>
            </a:r>
            <a:r>
              <a:rPr b="0" i="0" lang="en" sz="1400" u="none" cap="none" strike="noStrike">
                <a:solidFill>
                  <a:srgbClr val="000000"/>
                </a:solidFill>
                <a:latin typeface="Poppins"/>
                <a:ea typeface="Poppins"/>
                <a:cs typeface="Poppins"/>
                <a:sym typeface="Poppins"/>
              </a:rPr>
              <a:t>to support socially important work that may not generate income in the short term. Organisations apply for grants tied to goals like education or gender equality. These funds are time-bound and require detailed reporting. </a:t>
            </a:r>
            <a:endParaRPr b="0" i="0" sz="14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1400">
              <a:latin typeface="Poppins"/>
              <a:ea typeface="Poppins"/>
              <a:cs typeface="Poppins"/>
              <a:sym typeface="Poppins"/>
            </a:endParaRPr>
          </a:p>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For example, Educate Girls, a non-profit, uses grants to improve rural girls’ education. Grants are ideal for early-stage programmes or high-risk ideas. They help build capacity or show impact, but may reduce flexibility and cause dependency. </a:t>
            </a:r>
            <a:endParaRPr b="0" i="0" sz="1400" u="none" cap="none" strike="noStrike">
              <a:solidFill>
                <a:srgbClr val="000000"/>
              </a:solidFill>
              <a:latin typeface="Poppins"/>
              <a:ea typeface="Poppins"/>
              <a:cs typeface="Poppins"/>
              <a:sym typeface="Poppins"/>
            </a:endParaRPr>
          </a:p>
        </p:txBody>
      </p:sp>
      <p:sp>
        <p:nvSpPr>
          <p:cNvPr id="74" name="Google Shape;74;p16"/>
          <p:cNvSpPr txBox="1"/>
          <p:nvPr/>
        </p:nvSpPr>
        <p:spPr>
          <a:xfrm>
            <a:off x="5880187" y="2660482"/>
            <a:ext cx="20256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FF0000"/>
                </a:solidFill>
                <a:highlight>
                  <a:srgbClr val="FFFF00"/>
                </a:highlight>
                <a:latin typeface="Arial"/>
                <a:ea typeface="Arial"/>
                <a:cs typeface="Arial"/>
                <a:sym typeface="Arial"/>
              </a:rPr>
              <a:t>https://www.freepik.com/premium-vector/sheet-document-grants-funding-financing-higher-education-programs-vector-stock-illustration_31193632.htm#fromView=search&amp;page=1&amp;position=11&amp;uuid=614c0ae2-3698-4be0-9d32-a01c90420051&amp;query=grants</a:t>
            </a:r>
            <a:endParaRPr b="0" i="0" sz="1100" u="none" cap="none" strike="noStrike">
              <a:solidFill>
                <a:srgbClr val="000000"/>
              </a:solidFill>
              <a:latin typeface="Arial"/>
              <a:ea typeface="Arial"/>
              <a:cs typeface="Arial"/>
              <a:sym typeface="Arial"/>
            </a:endParaRPr>
          </a:p>
        </p:txBody>
      </p:sp>
      <p:sp>
        <p:nvSpPr>
          <p:cNvPr id="75" name="Google Shape;75;p16"/>
          <p:cNvSpPr txBox="1"/>
          <p:nvPr/>
        </p:nvSpPr>
        <p:spPr>
          <a:xfrm>
            <a:off x="6504753" y="3474388"/>
            <a:ext cx="12510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highlight>
                  <a:srgbClr val="FFFF00"/>
                </a:highlight>
                <a:latin typeface="Arial"/>
                <a:ea typeface="Arial"/>
                <a:cs typeface="Arial"/>
                <a:sym typeface="Arial"/>
              </a:rPr>
              <a:t>Alt text: Grants concept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rotWithShape="1">
          <a:blip r:embed="rId3">
            <a:alphaModFix/>
          </a:blip>
          <a:srcRect b="0" l="0" r="0" t="0"/>
          <a:stretch/>
        </p:blipFill>
        <p:spPr>
          <a:xfrm>
            <a:off x="0" y="0"/>
            <a:ext cx="9143998" cy="5143502"/>
          </a:xfrm>
          <a:prstGeom prst="rect">
            <a:avLst/>
          </a:prstGeom>
          <a:noFill/>
          <a:ln>
            <a:noFill/>
          </a:ln>
        </p:spPr>
      </p:pic>
      <p:sp>
        <p:nvSpPr>
          <p:cNvPr id="81" name="Google Shape;81;p17"/>
          <p:cNvSpPr txBox="1"/>
          <p:nvPr/>
        </p:nvSpPr>
        <p:spPr>
          <a:xfrm>
            <a:off x="172956" y="1243700"/>
            <a:ext cx="26682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Poppins"/>
                <a:ea typeface="Poppins"/>
                <a:cs typeface="Poppins"/>
                <a:sym typeface="Poppins"/>
              </a:rPr>
              <a:t>Cross-Subsidy Model</a:t>
            </a:r>
            <a:endParaRPr b="0" i="0" sz="1100" u="none" cap="none" strike="noStrike">
              <a:solidFill>
                <a:srgbClr val="000000"/>
              </a:solidFill>
              <a:latin typeface="Arial"/>
              <a:ea typeface="Arial"/>
              <a:cs typeface="Arial"/>
              <a:sym typeface="Arial"/>
            </a:endParaRPr>
          </a:p>
        </p:txBody>
      </p:sp>
      <p:sp>
        <p:nvSpPr>
          <p:cNvPr id="82" name="Google Shape;82;p17"/>
          <p:cNvSpPr txBox="1"/>
          <p:nvPr/>
        </p:nvSpPr>
        <p:spPr>
          <a:xfrm>
            <a:off x="4372918" y="307061"/>
            <a:ext cx="45708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500" u="none" cap="none" strike="noStrike">
                <a:solidFill>
                  <a:srgbClr val="FF0000"/>
                </a:solidFill>
                <a:highlight>
                  <a:srgbClr val="FFFF00"/>
                </a:highlight>
                <a:latin typeface="Arial"/>
                <a:ea typeface="Arial"/>
                <a:cs typeface="Arial"/>
                <a:sym typeface="Arial"/>
              </a:rPr>
              <a:t>https://www.freepik.com/free-vector/v462-aew-03_4250480.htm#fromView=image_search_similar&amp;page=1&amp;position=43&amp;uuid=9512ac19-c934-4152-9505-c3ab980cffcb&amp;query=tear+newspaper</a:t>
            </a:r>
            <a:endParaRPr sz="1100"/>
          </a:p>
        </p:txBody>
      </p:sp>
      <p:sp>
        <p:nvSpPr>
          <p:cNvPr id="83" name="Google Shape;83;p17"/>
          <p:cNvSpPr txBox="1"/>
          <p:nvPr/>
        </p:nvSpPr>
        <p:spPr>
          <a:xfrm>
            <a:off x="114938" y="1836637"/>
            <a:ext cx="4631100" cy="2870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This model involves charging one customer group a higher price to cover or subsidise services for another group that cannot pay, while maintaining similar service quality for both. </a:t>
            </a:r>
            <a:endParaRPr b="0" i="0" sz="14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1400">
              <a:latin typeface="Poppins"/>
              <a:ea typeface="Poppins"/>
              <a:cs typeface="Poppins"/>
              <a:sym typeface="Poppins"/>
            </a:endParaRPr>
          </a:p>
          <a:p>
            <a:pPr indent="0" lvl="0" marL="0" marR="0" rtl="0" algn="l">
              <a:lnSpc>
                <a:spcPct val="100000"/>
              </a:lnSpc>
              <a:spcBef>
                <a:spcPts val="0"/>
              </a:spcBef>
              <a:spcAft>
                <a:spcPts val="0"/>
              </a:spcAft>
              <a:buNone/>
            </a:pPr>
            <a:r>
              <a:rPr b="0" i="0" lang="en" sz="1400" u="none" cap="none" strike="noStrike">
                <a:solidFill>
                  <a:srgbClr val="000000"/>
                </a:solidFill>
                <a:latin typeface="Poppins"/>
                <a:ea typeface="Poppins"/>
                <a:cs typeface="Poppins"/>
                <a:sym typeface="Poppins"/>
              </a:rPr>
              <a:t>For example, Akshaya Patra Foundation raises funds through corporate or premium donors and uses that to provide free mid-day meals to children in government schools. This model is useful when customers have different capacities to pay. It works well in sectors like health, energy, or food where social impact and revenue can co-exist sustainably.</a:t>
            </a:r>
            <a:endParaRPr b="0" i="0" sz="1400" u="none" cap="none" strike="noStrike">
              <a:solidFill>
                <a:srgbClr val="000000"/>
              </a:solidFill>
              <a:latin typeface="Poppins"/>
              <a:ea typeface="Poppins"/>
              <a:cs typeface="Poppins"/>
              <a:sym typeface="Poppins"/>
            </a:endParaRPr>
          </a:p>
        </p:txBody>
      </p:sp>
      <p:sp>
        <p:nvSpPr>
          <p:cNvPr id="84" name="Google Shape;84;p17"/>
          <p:cNvSpPr txBox="1"/>
          <p:nvPr/>
        </p:nvSpPr>
        <p:spPr>
          <a:xfrm>
            <a:off x="5736998" y="2236344"/>
            <a:ext cx="2017800" cy="684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0000"/>
                </a:solidFill>
                <a:highlight>
                  <a:srgbClr val="FFFF00"/>
                </a:highlight>
                <a:latin typeface="Arial"/>
                <a:ea typeface="Arial"/>
                <a:cs typeface="Arial"/>
                <a:sym typeface="Arial"/>
              </a:rPr>
              <a:t>https://www.freepik.com/premium-vector/indian-economy-growth-vector_86734505.htm#fromView=search&amp;page=1&amp;position=22&amp;uuid=0a1d0e4a-403e-4fc3-a062-c2bfdda544ee&amp;query=cross+subsidy</a:t>
            </a:r>
            <a:endParaRPr b="0" i="0" sz="1100" u="none" cap="none" strike="noStrike">
              <a:solidFill>
                <a:srgbClr val="000000"/>
              </a:solidFill>
              <a:latin typeface="Arial"/>
              <a:ea typeface="Arial"/>
              <a:cs typeface="Arial"/>
              <a:sym typeface="Arial"/>
            </a:endParaRPr>
          </a:p>
        </p:txBody>
      </p:sp>
      <p:sp>
        <p:nvSpPr>
          <p:cNvPr id="85" name="Google Shape;85;p17"/>
          <p:cNvSpPr txBox="1"/>
          <p:nvPr/>
        </p:nvSpPr>
        <p:spPr>
          <a:xfrm>
            <a:off x="6024003" y="3604844"/>
            <a:ext cx="12510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highlight>
                  <a:srgbClr val="FFFF00"/>
                </a:highlight>
                <a:latin typeface="Arial"/>
                <a:ea typeface="Arial"/>
                <a:cs typeface="Arial"/>
                <a:sym typeface="Arial"/>
              </a:rPr>
              <a:t>Alt text: Indian economy growth</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