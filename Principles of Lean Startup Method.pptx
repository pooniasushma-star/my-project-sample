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oppi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721e2029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g36721e2029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721e2029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6721e20293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721e2029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g36721e20293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Principles of Lean Startup Method</a:t>
            </a:r>
            <a:endParaRPr b="1"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 rot="-5400000">
            <a:off x="1976691" y="-1986822"/>
            <a:ext cx="5196992" cy="9137715"/>
          </a:xfrm>
          <a:custGeom>
            <a:rect b="b" l="l" r="r" t="t"/>
            <a:pathLst>
              <a:path extrusionOk="0" h="23706" w="10104">
                <a:moveTo>
                  <a:pt x="0" y="0"/>
                </a:moveTo>
                <a:cubicBezTo>
                  <a:pt x="2747" y="-58"/>
                  <a:pt x="4980" y="11166"/>
                  <a:pt x="10101" y="9035"/>
                </a:cubicBezTo>
                <a:cubicBezTo>
                  <a:pt x="10121" y="12322"/>
                  <a:pt x="10052" y="20419"/>
                  <a:pt x="10072" y="23706"/>
                </a:cubicBezTo>
                <a:lnTo>
                  <a:pt x="72" y="23706"/>
                </a:lnTo>
                <a:cubicBezTo>
                  <a:pt x="77" y="20372"/>
                  <a:pt x="-5" y="3334"/>
                  <a:pt x="0" y="0"/>
                </a:cubicBezTo>
                <a:close/>
              </a:path>
            </a:pathLst>
          </a:custGeom>
          <a:solidFill>
            <a:srgbClr val="CEDF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165798" y="411992"/>
            <a:ext cx="348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Build-Measure-Learn Loop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828422" y="269954"/>
            <a:ext cx="51396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tartups following the Lean method use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Build-Measure-Learn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loop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The goal is not to perfect the product in one go, but to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accelerate learning through iterative development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Imagine a founder believes that young professionals need a better task management app. So they develop a basic </a:t>
            </a:r>
            <a:r>
              <a:rPr b="0" i="0" lang="en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prototype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—a clickable demo or a landing page explaining the idea. This is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phase.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then expose this 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Minimum Viable Product (MVP)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 real users and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how those users interact with it: Do they sign up? Do they ask questions? Do they return?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Finally, they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from these behaviours, and this learning then feeds the next version.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loop repeats rapidly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allowing founders to pivot or persevere based on real insights, not assumptions.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607109" y="2298743"/>
            <a:ext cx="1799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https://www.freepik.com/free-vector/scrum-method-concept-illustration_33756670.htm#fromView=search&amp;page=1&amp;position=1&amp;uuid=a0bacf51-8bae-4e56-8ad6-e0b13e9521bc&amp;query=build+measure+learning+loop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91885" y="2841171"/>
            <a:ext cx="2396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Working in a loop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 rot="-5400000">
            <a:off x="1976691" y="-1986822"/>
            <a:ext cx="5196992" cy="9137715"/>
          </a:xfrm>
          <a:custGeom>
            <a:rect b="b" l="l" r="r" t="t"/>
            <a:pathLst>
              <a:path extrusionOk="0" h="23706" w="10104">
                <a:moveTo>
                  <a:pt x="0" y="0"/>
                </a:moveTo>
                <a:cubicBezTo>
                  <a:pt x="2747" y="-58"/>
                  <a:pt x="4980" y="11166"/>
                  <a:pt x="10101" y="9035"/>
                </a:cubicBezTo>
                <a:cubicBezTo>
                  <a:pt x="10121" y="12322"/>
                  <a:pt x="10052" y="20419"/>
                  <a:pt x="10072" y="23706"/>
                </a:cubicBezTo>
                <a:lnTo>
                  <a:pt x="72" y="23706"/>
                </a:lnTo>
                <a:cubicBezTo>
                  <a:pt x="77" y="20372"/>
                  <a:pt x="-5" y="3334"/>
                  <a:pt x="0" y="0"/>
                </a:cubicBezTo>
                <a:close/>
              </a:path>
            </a:pathLst>
          </a:custGeom>
          <a:solidFill>
            <a:srgbClr val="CEDF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65798" y="411992"/>
            <a:ext cx="348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 Learning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973496" y="567190"/>
            <a:ext cx="4570800" cy="4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Startups are essentially experiments. Each decision about features, pricing, and channels is a hypothesis that must be tested.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 learning, </a:t>
            </a:r>
            <a:r>
              <a:rPr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outcome of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early-stage validation,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means systematically testing these assumptions through experiments and gathering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actionable metrics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not </a:t>
            </a:r>
            <a:r>
              <a:rPr b="0" i="0" lang="en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vanity metrics.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instance, the assumption “users will pay ₹50/month for this service” is not validated by getting 1,000 likes on a social post. It </a:t>
            </a:r>
            <a:r>
              <a:rPr lang="en" sz="1400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validated only if users actually pay ₹50/month.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Poppins"/>
                <a:ea typeface="Poppins"/>
                <a:cs typeface="Poppins"/>
                <a:sym typeface="Poppins"/>
              </a:rPr>
              <a:t>Without e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arly-stage validation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founders risk building and scaling a product no one truly wants.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mindset is crucial, especially for university founders or product teams in innovation labs. It teaches them to treat product development like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scientific inquiry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not creative guesswork.</a:t>
            </a:r>
            <a:endParaRPr sz="1100"/>
          </a:p>
        </p:txBody>
      </p:sp>
      <p:sp>
        <p:nvSpPr>
          <p:cNvPr id="71" name="Google Shape;71;p15"/>
          <p:cNvSpPr txBox="1"/>
          <p:nvPr/>
        </p:nvSpPr>
        <p:spPr>
          <a:xfrm>
            <a:off x="868555" y="2047939"/>
            <a:ext cx="1573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https://www.freepik.com/free-vector/business-man-holding-job-done-check-sign_1311460.htm#fromView=search&amp;page=1&amp;position=1&amp;uuid=660c4f68-098e-4c3f-9e1b-a454c8ccccf8&amp;query=validated+learning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830245" y="2887644"/>
            <a:ext cx="2396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Man holding a tick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 rot="-5400000">
            <a:off x="1976691" y="-1986822"/>
            <a:ext cx="5196992" cy="9137715"/>
          </a:xfrm>
          <a:custGeom>
            <a:rect b="b" l="l" r="r" t="t"/>
            <a:pathLst>
              <a:path extrusionOk="0" h="23706" w="10104">
                <a:moveTo>
                  <a:pt x="0" y="0"/>
                </a:moveTo>
                <a:cubicBezTo>
                  <a:pt x="2747" y="-58"/>
                  <a:pt x="4980" y="11166"/>
                  <a:pt x="10101" y="9035"/>
                </a:cubicBezTo>
                <a:cubicBezTo>
                  <a:pt x="10121" y="12322"/>
                  <a:pt x="10052" y="20419"/>
                  <a:pt x="10072" y="23706"/>
                </a:cubicBezTo>
                <a:lnTo>
                  <a:pt x="72" y="23706"/>
                </a:lnTo>
                <a:cubicBezTo>
                  <a:pt x="77" y="20372"/>
                  <a:pt x="-5" y="3334"/>
                  <a:pt x="0" y="0"/>
                </a:cubicBezTo>
                <a:close/>
              </a:path>
            </a:pathLst>
          </a:custGeom>
          <a:solidFill>
            <a:srgbClr val="CEDF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65798" y="411992"/>
            <a:ext cx="34818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Minimum Viable Product (MVP)</a:t>
            </a:r>
            <a:endParaRPr b="1" i="0" sz="1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958423" y="487931"/>
            <a:ext cx="4570800" cy="4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Minimum Viable Product (MVP) is a simple version of a product that focuses only on the main idea—just enough to test if your concept works.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Let us say a student founder wants to build a platform that helps peers find mentors. The full platform might include profiles, scheduling tools, feedback forms, and analytics. But the MVP might be a simple Google Form shared via WhatsApp, connecting students manually with mentors for 1:1 calls.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this MVP sees </a:t>
            </a:r>
            <a:r>
              <a:rPr b="0" i="0" lang="en" sz="14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traction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the team has </a:t>
            </a:r>
            <a:r>
              <a:rPr b="0" i="1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validated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people want such a service. If not, they have saved months of unnecessary development. The MVP thus becomes a tool for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early-stage validation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, focusing energy only on features that solve real problems.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78265" y="2010257"/>
            <a:ext cx="1590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https://www.freepik.com/free-vector/product-manager-concept-illustration_72632240.htm#fromView=search&amp;page=1&amp;position=0&amp;uuid=c56935ad-1e4f-43cd-a0aa-99a59c434915&amp;query=minimum+viable+product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45122" y="2790929"/>
            <a:ext cx="2396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Alt text: A man with certification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