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Poppins"/>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oppins-bold.fntdata"/><Relationship Id="rId10" Type="http://schemas.openxmlformats.org/officeDocument/2006/relationships/font" Target="fonts/Poppins-regular.fntdata"/><Relationship Id="rId13" Type="http://schemas.openxmlformats.org/officeDocument/2006/relationships/font" Target="fonts/Poppins-boldItalic.fntdata"/><Relationship Id="rId12" Type="http://schemas.openxmlformats.org/officeDocument/2006/relationships/font" Target="fonts/Poppi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6763e8de5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 name="Google Shape;57;g36763e8de5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6763e8de5c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g36763e8de5c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6763e8de5c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g36763e8de5c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Poppins"/>
                <a:ea typeface="Poppins"/>
                <a:cs typeface="Poppins"/>
                <a:sym typeface="Poppins"/>
              </a:rPr>
              <a:t>Types of IFMs</a:t>
            </a:r>
            <a:endParaRPr>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5457511" y="234880"/>
            <a:ext cx="3127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0000"/>
                </a:solidFill>
                <a:highlight>
                  <a:srgbClr val="FFFF00"/>
                </a:highlight>
                <a:latin typeface="Arial"/>
                <a:ea typeface="Arial"/>
                <a:cs typeface="Arial"/>
                <a:sym typeface="Arial"/>
              </a:rPr>
              <a:t>NO VO</a:t>
            </a:r>
            <a:endParaRPr b="0" i="0" sz="1100" u="none" cap="none" strike="noStrike">
              <a:solidFill>
                <a:srgbClr val="000000"/>
              </a:solidFill>
              <a:latin typeface="Arial"/>
              <a:ea typeface="Arial"/>
              <a:cs typeface="Arial"/>
              <a:sym typeface="Arial"/>
            </a:endParaRPr>
          </a:p>
        </p:txBody>
      </p:sp>
      <p:sp>
        <p:nvSpPr>
          <p:cNvPr id="60" name="Google Shape;60;p14"/>
          <p:cNvSpPr/>
          <p:nvPr/>
        </p:nvSpPr>
        <p:spPr>
          <a:xfrm>
            <a:off x="0" y="2306097"/>
            <a:ext cx="9144000" cy="2841274"/>
          </a:xfrm>
          <a:custGeom>
            <a:rect b="b" l="l" r="r" t="t"/>
            <a:pathLst>
              <a:path extrusionOk="0" h="4456901" w="12192000">
                <a:moveTo>
                  <a:pt x="0" y="502875"/>
                </a:moveTo>
                <a:cubicBezTo>
                  <a:pt x="4064000" y="502875"/>
                  <a:pt x="7906935" y="-628596"/>
                  <a:pt x="12192000" y="502875"/>
                </a:cubicBezTo>
                <a:lnTo>
                  <a:pt x="12192000" y="4456901"/>
                </a:lnTo>
                <a:lnTo>
                  <a:pt x="0" y="4456901"/>
                </a:lnTo>
                <a:lnTo>
                  <a:pt x="0" y="502875"/>
                </a:lnTo>
                <a:close/>
              </a:path>
            </a:pathLst>
          </a:custGeom>
          <a:solidFill>
            <a:srgbClr val="CFE6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61" name="Google Shape;61;p14"/>
          <p:cNvSpPr txBox="1"/>
          <p:nvPr/>
        </p:nvSpPr>
        <p:spPr>
          <a:xfrm>
            <a:off x="431451" y="672124"/>
            <a:ext cx="45708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Poppins"/>
                <a:ea typeface="Poppins"/>
                <a:cs typeface="Poppins"/>
                <a:sym typeface="Poppins"/>
              </a:rPr>
              <a:t>Development Impact Bonds (DIBs)</a:t>
            </a:r>
            <a:endParaRPr b="0" i="0" sz="1100" u="none" cap="none" strike="noStrike">
              <a:solidFill>
                <a:srgbClr val="000000"/>
              </a:solidFill>
              <a:latin typeface="Arial"/>
              <a:ea typeface="Arial"/>
              <a:cs typeface="Arial"/>
              <a:sym typeface="Arial"/>
            </a:endParaRPr>
          </a:p>
        </p:txBody>
      </p:sp>
      <p:sp>
        <p:nvSpPr>
          <p:cNvPr id="62" name="Google Shape;62;p14"/>
          <p:cNvSpPr txBox="1"/>
          <p:nvPr/>
        </p:nvSpPr>
        <p:spPr>
          <a:xfrm>
            <a:off x="318407" y="2907967"/>
            <a:ext cx="4338900" cy="22242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In this, private investors give money upfront to fund social projects. Governments or donors pay back the investors</a:t>
            </a:r>
            <a:r>
              <a:rPr lang="en" sz="1400">
                <a:latin typeface="Poppins"/>
                <a:ea typeface="Poppins"/>
                <a:cs typeface="Poppins"/>
                <a:sym typeface="Poppins"/>
              </a:rPr>
              <a:t> </a:t>
            </a:r>
            <a:r>
              <a:rPr b="0" i="0" lang="en" sz="1400" u="none" cap="none" strike="noStrike">
                <a:solidFill>
                  <a:srgbClr val="000000"/>
                </a:solidFill>
                <a:latin typeface="Poppins"/>
                <a:ea typeface="Poppins"/>
                <a:cs typeface="Poppins"/>
                <a:sym typeface="Poppins"/>
              </a:rPr>
              <a:t>only if the project meets certain agreed goals.</a:t>
            </a:r>
            <a:endParaRPr b="0" i="0" sz="1400" u="none" cap="none" strike="noStrike">
              <a:solidFill>
                <a:srgbClr val="000000"/>
              </a:solidFill>
              <a:latin typeface="Poppins"/>
              <a:ea typeface="Poppins"/>
              <a:cs typeface="Poppins"/>
              <a:sym typeface="Poppins"/>
            </a:endParaRPr>
          </a:p>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This means investors take the risk, and the people running the project are motivated to achieve real results. DIBs work best when social outcomes can be measured clearly and verified by an independent group.</a:t>
            </a:r>
            <a:endParaRPr b="0" i="0" sz="1400" u="none" cap="none" strike="noStrike">
              <a:solidFill>
                <a:srgbClr val="000000"/>
              </a:solidFill>
              <a:latin typeface="Poppins"/>
              <a:ea typeface="Poppins"/>
              <a:cs typeface="Poppins"/>
              <a:sym typeface="Poppins"/>
            </a:endParaRPr>
          </a:p>
        </p:txBody>
      </p:sp>
      <p:sp>
        <p:nvSpPr>
          <p:cNvPr id="63" name="Google Shape;63;p14"/>
          <p:cNvSpPr txBox="1"/>
          <p:nvPr/>
        </p:nvSpPr>
        <p:spPr>
          <a:xfrm>
            <a:off x="5290457" y="2927573"/>
            <a:ext cx="3393900" cy="9312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For example, a programme to improve education for girls only repays investors when school attendance and learning improve.</a:t>
            </a:r>
            <a:endParaRPr b="0" i="0" sz="1400" u="none" cap="none" strike="noStrike">
              <a:solidFill>
                <a:srgbClr val="000000"/>
              </a:solidFill>
              <a:latin typeface="Arial"/>
              <a:ea typeface="Arial"/>
              <a:cs typeface="Arial"/>
              <a:sym typeface="Arial"/>
            </a:endParaRPr>
          </a:p>
        </p:txBody>
      </p:sp>
      <p:sp>
        <p:nvSpPr>
          <p:cNvPr id="64" name="Google Shape;64;p14"/>
          <p:cNvSpPr txBox="1"/>
          <p:nvPr/>
        </p:nvSpPr>
        <p:spPr>
          <a:xfrm>
            <a:off x="3210448" y="1733340"/>
            <a:ext cx="20049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0000"/>
                </a:solidFill>
                <a:highlight>
                  <a:srgbClr val="FFFF00"/>
                </a:highlight>
                <a:latin typeface="Arial"/>
                <a:ea typeface="Arial"/>
                <a:cs typeface="Arial"/>
                <a:sym typeface="Arial"/>
              </a:rPr>
              <a:t>Alt text: Growing Investment</a:t>
            </a:r>
            <a:endParaRPr b="0" i="0" sz="1100" u="none" cap="none" strike="noStrike">
              <a:solidFill>
                <a:srgbClr val="000000"/>
              </a:solidFill>
              <a:latin typeface="Arial"/>
              <a:ea typeface="Arial"/>
              <a:cs typeface="Arial"/>
              <a:sym typeface="Arial"/>
            </a:endParaRPr>
          </a:p>
        </p:txBody>
      </p:sp>
      <p:sp>
        <p:nvSpPr>
          <p:cNvPr id="65" name="Google Shape;65;p14"/>
          <p:cNvSpPr txBox="1"/>
          <p:nvPr/>
        </p:nvSpPr>
        <p:spPr>
          <a:xfrm>
            <a:off x="4870311" y="1228594"/>
            <a:ext cx="2379600" cy="438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0000"/>
                </a:solidFill>
                <a:highlight>
                  <a:srgbClr val="FFFF00"/>
                </a:highlight>
                <a:latin typeface="Arial"/>
                <a:ea typeface="Arial"/>
                <a:cs typeface="Arial"/>
                <a:sym typeface="Arial"/>
              </a:rPr>
              <a:t>https://www.freepik.com/free-vector/nurturing-idea-crowdfunding_15642670.htm#fromView=search&amp;page=1&amp;position=3&amp;uuid=5264b2a2-4afe-42e4-9610-0fd3bf16b5f7&amp;query=Development+Impact+Bonds+%28DIBs%29</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nvSpPr>
        <p:spPr>
          <a:xfrm>
            <a:off x="5457511" y="234880"/>
            <a:ext cx="3127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0000"/>
                </a:solidFill>
                <a:highlight>
                  <a:srgbClr val="FFFF00"/>
                </a:highlight>
                <a:latin typeface="Arial"/>
                <a:ea typeface="Arial"/>
                <a:cs typeface="Arial"/>
                <a:sym typeface="Arial"/>
              </a:rPr>
              <a:t>NO VO</a:t>
            </a:r>
            <a:endParaRPr b="0" i="0" sz="1100" u="none" cap="none" strike="noStrike">
              <a:solidFill>
                <a:srgbClr val="000000"/>
              </a:solidFill>
              <a:latin typeface="Arial"/>
              <a:ea typeface="Arial"/>
              <a:cs typeface="Arial"/>
              <a:sym typeface="Arial"/>
            </a:endParaRPr>
          </a:p>
        </p:txBody>
      </p:sp>
      <p:sp>
        <p:nvSpPr>
          <p:cNvPr id="71" name="Google Shape;71;p15"/>
          <p:cNvSpPr/>
          <p:nvPr/>
        </p:nvSpPr>
        <p:spPr>
          <a:xfrm>
            <a:off x="0" y="2306097"/>
            <a:ext cx="9144000" cy="2841274"/>
          </a:xfrm>
          <a:custGeom>
            <a:rect b="b" l="l" r="r" t="t"/>
            <a:pathLst>
              <a:path extrusionOk="0" h="4456901" w="12192000">
                <a:moveTo>
                  <a:pt x="0" y="502875"/>
                </a:moveTo>
                <a:cubicBezTo>
                  <a:pt x="4064000" y="502875"/>
                  <a:pt x="7906935" y="-628596"/>
                  <a:pt x="12192000" y="502875"/>
                </a:cubicBezTo>
                <a:lnTo>
                  <a:pt x="12192000" y="4456901"/>
                </a:lnTo>
                <a:lnTo>
                  <a:pt x="0" y="4456901"/>
                </a:lnTo>
                <a:lnTo>
                  <a:pt x="0" y="502875"/>
                </a:lnTo>
                <a:close/>
              </a:path>
            </a:pathLst>
          </a:custGeom>
          <a:solidFill>
            <a:srgbClr val="CFE6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72" name="Google Shape;72;p15"/>
          <p:cNvSpPr txBox="1"/>
          <p:nvPr/>
        </p:nvSpPr>
        <p:spPr>
          <a:xfrm>
            <a:off x="431451" y="672124"/>
            <a:ext cx="45708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Poppins"/>
                <a:ea typeface="Poppins"/>
                <a:cs typeface="Poppins"/>
                <a:sym typeface="Poppins"/>
              </a:rPr>
              <a:t>Pay-for-Success (PFS) Schemes</a:t>
            </a:r>
            <a:endParaRPr b="0" i="0" sz="1100" u="none" cap="none" strike="noStrike">
              <a:solidFill>
                <a:srgbClr val="000000"/>
              </a:solidFill>
              <a:latin typeface="Arial"/>
              <a:ea typeface="Arial"/>
              <a:cs typeface="Arial"/>
              <a:sym typeface="Arial"/>
            </a:endParaRPr>
          </a:p>
        </p:txBody>
      </p:sp>
      <p:sp>
        <p:nvSpPr>
          <p:cNvPr id="73" name="Google Shape;73;p15"/>
          <p:cNvSpPr txBox="1"/>
          <p:nvPr/>
        </p:nvSpPr>
        <p:spPr>
          <a:xfrm>
            <a:off x="318407" y="2927560"/>
            <a:ext cx="4338900" cy="17931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Pay-for-Success (PFS) schemes are contracts where the government pays for social services only after the results are proven. Sometimes investors provide money upfront, but the main focus is on paying for success. </a:t>
            </a:r>
            <a:endParaRPr b="0" i="0" sz="1400" u="none" cap="none" strike="noStrike">
              <a:solidFill>
                <a:srgbClr val="000000"/>
              </a:solidFill>
              <a:latin typeface="Poppins"/>
              <a:ea typeface="Poppins"/>
              <a:cs typeface="Poppins"/>
              <a:sym typeface="Poppins"/>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This model ensures public money is used effectively by linking payment to outcomes.</a:t>
            </a:r>
            <a:endParaRPr b="0" i="0" sz="1400" u="none" cap="none" strike="noStrike">
              <a:solidFill>
                <a:srgbClr val="000000"/>
              </a:solidFill>
              <a:latin typeface="Poppins"/>
              <a:ea typeface="Poppins"/>
              <a:cs typeface="Poppins"/>
              <a:sym typeface="Poppins"/>
            </a:endParaRPr>
          </a:p>
        </p:txBody>
      </p:sp>
      <p:sp>
        <p:nvSpPr>
          <p:cNvPr id="74" name="Google Shape;74;p15"/>
          <p:cNvSpPr txBox="1"/>
          <p:nvPr/>
        </p:nvSpPr>
        <p:spPr>
          <a:xfrm>
            <a:off x="5290457" y="2927573"/>
            <a:ext cx="3393900" cy="9312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For example, a government may pay a social enterprise only if a mental health support programme reduces hospital visits.</a:t>
            </a:r>
            <a:endParaRPr b="0" i="0" sz="1400" u="none" cap="none" strike="noStrike">
              <a:solidFill>
                <a:srgbClr val="000000"/>
              </a:solidFill>
              <a:latin typeface="Arial"/>
              <a:ea typeface="Arial"/>
              <a:cs typeface="Arial"/>
              <a:sym typeface="Arial"/>
            </a:endParaRPr>
          </a:p>
        </p:txBody>
      </p:sp>
      <p:sp>
        <p:nvSpPr>
          <p:cNvPr id="75" name="Google Shape;75;p15"/>
          <p:cNvSpPr txBox="1"/>
          <p:nvPr/>
        </p:nvSpPr>
        <p:spPr>
          <a:xfrm>
            <a:off x="3641900" y="2042510"/>
            <a:ext cx="23946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00"/>
                </a:highlight>
                <a:latin typeface="Arial"/>
                <a:ea typeface="Arial"/>
                <a:cs typeface="Arial"/>
                <a:sym typeface="Arial"/>
              </a:rPr>
              <a:t>https://www.freepik.com/free-vector/happy-character-winning-prize-with-flat-design_2720805.htm#fromView=search&amp;page=1&amp;position=1&amp;uuid=b85ca7e0-9755-4b5c-bfbb-5a0f0106c737&amp;query=pay+for+success</a:t>
            </a:r>
            <a:endParaRPr b="0" i="0" sz="1100" u="none" cap="none" strike="noStrike">
              <a:solidFill>
                <a:srgbClr val="000000"/>
              </a:solidFill>
              <a:latin typeface="Arial"/>
              <a:ea typeface="Arial"/>
              <a:cs typeface="Arial"/>
              <a:sym typeface="Arial"/>
            </a:endParaRPr>
          </a:p>
        </p:txBody>
      </p:sp>
      <p:sp>
        <p:nvSpPr>
          <p:cNvPr id="76" name="Google Shape;76;p15"/>
          <p:cNvSpPr txBox="1"/>
          <p:nvPr/>
        </p:nvSpPr>
        <p:spPr>
          <a:xfrm>
            <a:off x="3784460" y="2593730"/>
            <a:ext cx="20049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0000"/>
                </a:solidFill>
                <a:highlight>
                  <a:srgbClr val="FFFF00"/>
                </a:highlight>
                <a:latin typeface="Arial"/>
                <a:ea typeface="Arial"/>
                <a:cs typeface="Arial"/>
                <a:sym typeface="Arial"/>
              </a:rPr>
              <a:t>Alt text: A man with trophy</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nvSpPr>
        <p:spPr>
          <a:xfrm>
            <a:off x="5457511" y="234880"/>
            <a:ext cx="3127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0000"/>
                </a:solidFill>
                <a:highlight>
                  <a:srgbClr val="FFFF00"/>
                </a:highlight>
                <a:latin typeface="Arial"/>
                <a:ea typeface="Arial"/>
                <a:cs typeface="Arial"/>
                <a:sym typeface="Arial"/>
              </a:rPr>
              <a:t>NO VO</a:t>
            </a:r>
            <a:endParaRPr b="0" i="0" sz="1100" u="none" cap="none" strike="noStrike">
              <a:solidFill>
                <a:srgbClr val="000000"/>
              </a:solidFill>
              <a:latin typeface="Arial"/>
              <a:ea typeface="Arial"/>
              <a:cs typeface="Arial"/>
              <a:sym typeface="Arial"/>
            </a:endParaRPr>
          </a:p>
        </p:txBody>
      </p:sp>
      <p:sp>
        <p:nvSpPr>
          <p:cNvPr id="82" name="Google Shape;82;p16"/>
          <p:cNvSpPr/>
          <p:nvPr/>
        </p:nvSpPr>
        <p:spPr>
          <a:xfrm>
            <a:off x="0" y="2306097"/>
            <a:ext cx="9144000" cy="2841274"/>
          </a:xfrm>
          <a:custGeom>
            <a:rect b="b" l="l" r="r" t="t"/>
            <a:pathLst>
              <a:path extrusionOk="0" h="4456901" w="12192000">
                <a:moveTo>
                  <a:pt x="0" y="502875"/>
                </a:moveTo>
                <a:cubicBezTo>
                  <a:pt x="4064000" y="502875"/>
                  <a:pt x="7906935" y="-628596"/>
                  <a:pt x="12192000" y="502875"/>
                </a:cubicBezTo>
                <a:lnTo>
                  <a:pt x="12192000" y="4456901"/>
                </a:lnTo>
                <a:lnTo>
                  <a:pt x="0" y="4456901"/>
                </a:lnTo>
                <a:lnTo>
                  <a:pt x="0" y="502875"/>
                </a:lnTo>
                <a:close/>
              </a:path>
            </a:pathLst>
          </a:custGeom>
          <a:solidFill>
            <a:srgbClr val="CFE6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3" name="Google Shape;83;p16"/>
          <p:cNvSpPr txBox="1"/>
          <p:nvPr/>
        </p:nvSpPr>
        <p:spPr>
          <a:xfrm>
            <a:off x="431451" y="672124"/>
            <a:ext cx="45708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Poppins"/>
                <a:ea typeface="Poppins"/>
                <a:cs typeface="Poppins"/>
                <a:sym typeface="Poppins"/>
              </a:rPr>
              <a:t>Social Stock Exchanges (SSEs)</a:t>
            </a:r>
            <a:endParaRPr b="0" i="0" sz="1100" u="none" cap="none" strike="noStrike">
              <a:solidFill>
                <a:srgbClr val="000000"/>
              </a:solidFill>
              <a:latin typeface="Arial"/>
              <a:ea typeface="Arial"/>
              <a:cs typeface="Arial"/>
              <a:sym typeface="Arial"/>
            </a:endParaRPr>
          </a:p>
        </p:txBody>
      </p:sp>
      <p:sp>
        <p:nvSpPr>
          <p:cNvPr id="84" name="Google Shape;84;p16"/>
          <p:cNvSpPr txBox="1"/>
          <p:nvPr/>
        </p:nvSpPr>
        <p:spPr>
          <a:xfrm>
            <a:off x="318413" y="2623426"/>
            <a:ext cx="4338900" cy="20088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SSEs are special markets where social enterprises can raise money by selling shares or bonds to investors who care about social impact.</a:t>
            </a:r>
            <a:endParaRPr b="0" i="0" sz="1400" u="none" cap="none" strike="noStrike">
              <a:solidFill>
                <a:srgbClr val="000000"/>
              </a:solidFill>
              <a:latin typeface="Poppins"/>
              <a:ea typeface="Poppins"/>
              <a:cs typeface="Poppins"/>
              <a:sym typeface="Poppins"/>
            </a:endParaRPr>
          </a:p>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They give social enterprises a way to get long-term funding while showing transparency. They help build trust between investors and mission-driven businesses.</a:t>
            </a:r>
            <a:endParaRPr b="0" i="0" sz="1400" u="none" cap="none" strike="noStrike">
              <a:solidFill>
                <a:srgbClr val="000000"/>
              </a:solidFill>
              <a:latin typeface="Poppins"/>
              <a:ea typeface="Poppins"/>
              <a:cs typeface="Poppins"/>
              <a:sym typeface="Poppins"/>
            </a:endParaRPr>
          </a:p>
        </p:txBody>
      </p:sp>
      <p:sp>
        <p:nvSpPr>
          <p:cNvPr id="85" name="Google Shape;85;p16"/>
          <p:cNvSpPr txBox="1"/>
          <p:nvPr/>
        </p:nvSpPr>
        <p:spPr>
          <a:xfrm>
            <a:off x="5290457" y="2927573"/>
            <a:ext cx="3393900" cy="9312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For example, a healthcare company can raise funds by issuing bonds linked to improving maternal health outcomes.</a:t>
            </a:r>
            <a:endParaRPr b="0" i="0" sz="1400" u="none" cap="none" strike="noStrike">
              <a:solidFill>
                <a:srgbClr val="000000"/>
              </a:solidFill>
              <a:latin typeface="Arial"/>
              <a:ea typeface="Arial"/>
              <a:cs typeface="Arial"/>
              <a:sym typeface="Arial"/>
            </a:endParaRPr>
          </a:p>
        </p:txBody>
      </p:sp>
      <p:sp>
        <p:nvSpPr>
          <p:cNvPr id="86" name="Google Shape;86;p16"/>
          <p:cNvSpPr txBox="1"/>
          <p:nvPr/>
        </p:nvSpPr>
        <p:spPr>
          <a:xfrm>
            <a:off x="6451042" y="1369676"/>
            <a:ext cx="1603500" cy="453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FF0000"/>
                </a:solidFill>
                <a:highlight>
                  <a:srgbClr val="FFFF00"/>
                </a:highlight>
                <a:latin typeface="Arial"/>
                <a:ea typeface="Arial"/>
                <a:cs typeface="Arial"/>
                <a:sym typeface="Arial"/>
              </a:rPr>
              <a:t>https://www.freepik.com/free-vector/hand-drawn-international-trade-with-coins_20123505.htm#fromView=search&amp;page=1&amp;position=26&amp;uuid=3c397883-1fe6-471a-b712-b8ffc8f70673&amp;query=Social+Stock+Exchanges+</a:t>
            </a:r>
            <a:endParaRPr b="0" i="0" sz="1100" u="none" cap="none" strike="noStrike">
              <a:solidFill>
                <a:srgbClr val="000000"/>
              </a:solidFill>
              <a:latin typeface="Arial"/>
              <a:ea typeface="Arial"/>
              <a:cs typeface="Arial"/>
              <a:sym typeface="Arial"/>
            </a:endParaRPr>
          </a:p>
        </p:txBody>
      </p:sp>
      <p:sp>
        <p:nvSpPr>
          <p:cNvPr id="87" name="Google Shape;87;p16"/>
          <p:cNvSpPr txBox="1"/>
          <p:nvPr/>
        </p:nvSpPr>
        <p:spPr>
          <a:xfrm>
            <a:off x="5978770" y="1848899"/>
            <a:ext cx="20049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0000"/>
                </a:solidFill>
                <a:highlight>
                  <a:srgbClr val="FFFF00"/>
                </a:highlight>
                <a:latin typeface="Arial"/>
                <a:ea typeface="Arial"/>
                <a:cs typeface="Arial"/>
                <a:sym typeface="Arial"/>
              </a:rPr>
              <a:t>Alt text: Trade in the globe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