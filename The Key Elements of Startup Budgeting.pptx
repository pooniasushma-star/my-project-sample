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Lst>
  <p:sldSz cy="5143500" cx="9144000"/>
  <p:notesSz cx="6858000" cy="9144000"/>
  <p:embeddedFontLst>
    <p:embeddedFont>
      <p:font typeface="Poppins"/>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k shobha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oppins-regular.fntdata"/><Relationship Id="rId10" Type="http://schemas.openxmlformats.org/officeDocument/2006/relationships/slide" Target="slides/slide4.xml"/><Relationship Id="rId13" Type="http://schemas.openxmlformats.org/officeDocument/2006/relationships/font" Target="fonts/Poppins-italic.fntdata"/><Relationship Id="rId12" Type="http://schemas.openxmlformats.org/officeDocument/2006/relationships/font" Target="fonts/Poppi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4" Type="http://schemas.openxmlformats.org/officeDocument/2006/relationships/font" Target="fonts/Poppi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6-20T07:31:26.029">
    <p:pos x="6000" y="0"/>
    <p:text>@GD, give appropriate icons.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762bf78e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g36762bf78e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58" name="Google Shape;58;g36762bf78e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6762bf78e5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g36762bf78e5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
              <a:t>VO as the heading appears: Let’s unlock the key elements of startup budgeting. Click over each component to gain more insights.</a:t>
            </a:r>
            <a:endParaRPr/>
          </a:p>
        </p:txBody>
      </p:sp>
      <p:sp>
        <p:nvSpPr>
          <p:cNvPr id="67" name="Google Shape;67;g36762bf78e5_0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762bf78e5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VO</a:t>
            </a:r>
            <a:endParaRPr/>
          </a:p>
        </p:txBody>
      </p:sp>
      <p:sp>
        <p:nvSpPr>
          <p:cNvPr id="75" name="Google Shape;75;g36762bf78e5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4600">
                <a:latin typeface="Poppins"/>
                <a:ea typeface="Poppins"/>
                <a:cs typeface="Poppins"/>
                <a:sym typeface="Poppins"/>
              </a:rPr>
              <a:t>The </a:t>
            </a:r>
            <a:r>
              <a:rPr b="1" lang="en" sz="4600">
                <a:latin typeface="Poppins"/>
                <a:ea typeface="Poppins"/>
                <a:cs typeface="Poppins"/>
                <a:sym typeface="Poppins"/>
              </a:rPr>
              <a:t>Key Elements</a:t>
            </a:r>
            <a:r>
              <a:rPr lang="en" sz="4400">
                <a:latin typeface="Poppins"/>
                <a:ea typeface="Poppins"/>
                <a:cs typeface="Poppins"/>
                <a:sym typeface="Poppins"/>
              </a:rPr>
              <a:t> </a:t>
            </a:r>
            <a:br>
              <a:rPr lang="en" sz="4400">
                <a:latin typeface="Poppins"/>
                <a:ea typeface="Poppins"/>
                <a:cs typeface="Poppins"/>
                <a:sym typeface="Poppins"/>
              </a:rPr>
            </a:br>
            <a:r>
              <a:rPr lang="en" sz="3200">
                <a:latin typeface="Poppins"/>
                <a:ea typeface="Poppins"/>
                <a:cs typeface="Poppins"/>
                <a:sym typeface="Poppins"/>
              </a:rPr>
              <a:t>of Startup Budgeting</a:t>
            </a:r>
            <a:endParaRPr sz="320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p:nvPr/>
        </p:nvSpPr>
        <p:spPr>
          <a:xfrm>
            <a:off x="248697" y="3350287"/>
            <a:ext cx="1364100" cy="731100"/>
          </a:xfrm>
          <a:prstGeom prst="rect">
            <a:avLst/>
          </a:prstGeom>
          <a:solidFill>
            <a:schemeClr val="accen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i="0" lang="en" sz="1200" u="none" cap="none" strike="noStrike">
                <a:solidFill>
                  <a:schemeClr val="lt1"/>
                </a:solidFill>
                <a:latin typeface="Poppins"/>
                <a:ea typeface="Poppins"/>
                <a:cs typeface="Poppins"/>
                <a:sym typeface="Poppins"/>
              </a:rPr>
              <a:t>Fixed Costs</a:t>
            </a:r>
            <a:endParaRPr i="0" sz="1200" u="none" cap="none" strike="noStrike">
              <a:solidFill>
                <a:schemeClr val="lt1"/>
              </a:solidFill>
              <a:latin typeface="Poppins"/>
              <a:ea typeface="Poppins"/>
              <a:cs typeface="Poppins"/>
              <a:sym typeface="Poppins"/>
            </a:endParaRPr>
          </a:p>
        </p:txBody>
      </p:sp>
      <p:sp>
        <p:nvSpPr>
          <p:cNvPr id="61" name="Google Shape;61;p14"/>
          <p:cNvSpPr/>
          <p:nvPr/>
        </p:nvSpPr>
        <p:spPr>
          <a:xfrm>
            <a:off x="227344" y="1800747"/>
            <a:ext cx="1364100" cy="731100"/>
          </a:xfrm>
          <a:prstGeom prst="rect">
            <a:avLst/>
          </a:prstGeom>
          <a:solidFill>
            <a:schemeClr val="accen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i="0" lang="en" sz="1200" u="none" cap="none" strike="noStrike">
                <a:solidFill>
                  <a:schemeClr val="lt1"/>
                </a:solidFill>
                <a:latin typeface="Poppins"/>
                <a:ea typeface="Poppins"/>
                <a:cs typeface="Poppins"/>
                <a:sym typeface="Poppins"/>
              </a:rPr>
              <a:t>Revenue Projections</a:t>
            </a:r>
            <a:endParaRPr i="0" sz="1200" u="none" cap="none" strike="noStrike">
              <a:solidFill>
                <a:schemeClr val="lt1"/>
              </a:solidFill>
              <a:latin typeface="Poppins"/>
              <a:ea typeface="Poppins"/>
              <a:cs typeface="Poppins"/>
              <a:sym typeface="Poppins"/>
            </a:endParaRPr>
          </a:p>
        </p:txBody>
      </p:sp>
      <p:sp>
        <p:nvSpPr>
          <p:cNvPr id="62" name="Google Shape;62;p14"/>
          <p:cNvSpPr/>
          <p:nvPr/>
        </p:nvSpPr>
        <p:spPr>
          <a:xfrm>
            <a:off x="1974501" y="1769347"/>
            <a:ext cx="6300300" cy="806400"/>
          </a:xfrm>
          <a:prstGeom prst="roundRect">
            <a:avLst>
              <a:gd fmla="val 16667" name="adj"/>
            </a:avLst>
          </a:prstGeom>
          <a:solidFill>
            <a:schemeClr val="l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222250" lvl="0" marL="215900" marR="0" rtl="0" algn="l">
              <a:lnSpc>
                <a:spcPct val="100000"/>
              </a:lnSpc>
              <a:spcBef>
                <a:spcPts val="0"/>
              </a:spcBef>
              <a:spcAft>
                <a:spcPts val="0"/>
              </a:spcAft>
              <a:buClr>
                <a:srgbClr val="000000"/>
              </a:buClr>
              <a:buSzPts val="1100"/>
              <a:buFont typeface="Poppins"/>
              <a:buChar char="•"/>
            </a:pPr>
            <a:r>
              <a:rPr i="0" lang="en" sz="1100" u="none" cap="none" strike="noStrike">
                <a:solidFill>
                  <a:srgbClr val="000000"/>
                </a:solidFill>
                <a:latin typeface="Poppins"/>
                <a:ea typeface="Poppins"/>
                <a:cs typeface="Poppins"/>
                <a:sym typeface="Poppins"/>
              </a:rPr>
              <a:t>Start by estimating how much money you will make through product sales, services, subscriptions, or licensing. Even if you are </a:t>
            </a:r>
            <a:r>
              <a:rPr i="0" lang="en" sz="1100" u="none" cap="none" strike="noStrike">
                <a:solidFill>
                  <a:srgbClr val="00B050"/>
                </a:solidFill>
                <a:latin typeface="Poppins"/>
                <a:ea typeface="Poppins"/>
                <a:cs typeface="Poppins"/>
                <a:sym typeface="Poppins"/>
              </a:rPr>
              <a:t>pre-revenue</a:t>
            </a:r>
            <a:r>
              <a:rPr i="0" lang="en" sz="1100" u="none" cap="none" strike="noStrike">
                <a:solidFill>
                  <a:srgbClr val="000000"/>
                </a:solidFill>
                <a:latin typeface="Poppins"/>
                <a:ea typeface="Poppins"/>
                <a:cs typeface="Poppins"/>
                <a:sym typeface="Poppins"/>
              </a:rPr>
              <a:t>, making assumptions based on market size, pricing strategy, and likely conversion rates helps you set realistic spending boundaries.</a:t>
            </a:r>
            <a:endParaRPr i="0" sz="1100" u="none" cap="none" strike="noStrike">
              <a:solidFill>
                <a:srgbClr val="000000"/>
              </a:solidFill>
              <a:latin typeface="Poppins"/>
              <a:ea typeface="Poppins"/>
              <a:cs typeface="Poppins"/>
              <a:sym typeface="Poppins"/>
            </a:endParaRPr>
          </a:p>
        </p:txBody>
      </p:sp>
      <p:sp>
        <p:nvSpPr>
          <p:cNvPr id="63" name="Google Shape;63;p14"/>
          <p:cNvSpPr/>
          <p:nvPr/>
        </p:nvSpPr>
        <p:spPr>
          <a:xfrm>
            <a:off x="1982038" y="3305071"/>
            <a:ext cx="6315300" cy="852900"/>
          </a:xfrm>
          <a:prstGeom prst="roundRect">
            <a:avLst>
              <a:gd fmla="val 16667" name="adj"/>
            </a:avLst>
          </a:prstGeom>
          <a:solidFill>
            <a:schemeClr val="l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222250" lvl="0" marL="215900" marR="0" rtl="0" algn="l">
              <a:lnSpc>
                <a:spcPct val="100000"/>
              </a:lnSpc>
              <a:spcBef>
                <a:spcPts val="0"/>
              </a:spcBef>
              <a:spcAft>
                <a:spcPts val="0"/>
              </a:spcAft>
              <a:buClr>
                <a:srgbClr val="000000"/>
              </a:buClr>
              <a:buSzPts val="1100"/>
              <a:buFont typeface="Poppins"/>
              <a:buChar char="•"/>
            </a:pPr>
            <a:r>
              <a:rPr i="0" lang="en" sz="1100" u="none" cap="none" strike="noStrike">
                <a:solidFill>
                  <a:srgbClr val="000000"/>
                </a:solidFill>
                <a:latin typeface="Poppins"/>
                <a:ea typeface="Poppins"/>
                <a:cs typeface="Poppins"/>
                <a:sym typeface="Poppins"/>
              </a:rPr>
              <a:t>These are stable, predictable expenses that do n</a:t>
            </a:r>
            <a:r>
              <a:rPr lang="en" sz="1100">
                <a:latin typeface="Poppins"/>
                <a:ea typeface="Poppins"/>
                <a:cs typeface="Poppins"/>
                <a:sym typeface="Poppins"/>
              </a:rPr>
              <a:t>o</a:t>
            </a:r>
            <a:r>
              <a:rPr i="0" lang="en" sz="1100" u="none" cap="none" strike="noStrike">
                <a:solidFill>
                  <a:srgbClr val="000000"/>
                </a:solidFill>
                <a:latin typeface="Poppins"/>
                <a:ea typeface="Poppins"/>
                <a:cs typeface="Poppins"/>
                <a:sym typeface="Poppins"/>
              </a:rPr>
              <a:t>t change every month like rent, full-time salaries, internet, or software subscriptions. Identifying these early gives you a clear view of your baseline operational cost, which forms the foundation of your burn rate.</a:t>
            </a:r>
            <a:endParaRPr i="0" sz="11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249952" y="1418909"/>
            <a:ext cx="1364100" cy="731100"/>
          </a:xfrm>
          <a:prstGeom prst="rect">
            <a:avLst/>
          </a:prstGeom>
          <a:solidFill>
            <a:schemeClr val="accen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i="0" lang="en" sz="1200" u="none" cap="none" strike="noStrike">
                <a:solidFill>
                  <a:schemeClr val="lt1"/>
                </a:solidFill>
                <a:latin typeface="Poppins"/>
                <a:ea typeface="Poppins"/>
                <a:cs typeface="Poppins"/>
                <a:sym typeface="Poppins"/>
              </a:rPr>
              <a:t>Variable Costs</a:t>
            </a:r>
            <a:endParaRPr i="0" sz="1200" u="none" cap="none" strike="noStrike">
              <a:solidFill>
                <a:schemeClr val="lt1"/>
              </a:solidFill>
              <a:latin typeface="Poppins"/>
              <a:ea typeface="Poppins"/>
              <a:cs typeface="Poppins"/>
              <a:sym typeface="Poppins"/>
            </a:endParaRPr>
          </a:p>
        </p:txBody>
      </p:sp>
      <p:sp>
        <p:nvSpPr>
          <p:cNvPr id="70" name="Google Shape;70;p15"/>
          <p:cNvSpPr/>
          <p:nvPr/>
        </p:nvSpPr>
        <p:spPr>
          <a:xfrm>
            <a:off x="1998365" y="1387510"/>
            <a:ext cx="6306600" cy="817800"/>
          </a:xfrm>
          <a:prstGeom prst="roundRect">
            <a:avLst>
              <a:gd fmla="val 16667" name="adj"/>
            </a:avLst>
          </a:prstGeom>
          <a:solidFill>
            <a:schemeClr val="l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222250" lvl="0" marL="215900" marR="0" rtl="0" algn="l">
              <a:lnSpc>
                <a:spcPct val="100000"/>
              </a:lnSpc>
              <a:spcBef>
                <a:spcPts val="0"/>
              </a:spcBef>
              <a:spcAft>
                <a:spcPts val="0"/>
              </a:spcAft>
              <a:buClr>
                <a:srgbClr val="000000"/>
              </a:buClr>
              <a:buSzPts val="1100"/>
              <a:buFont typeface="Poppins"/>
              <a:buChar char="•"/>
            </a:pPr>
            <a:r>
              <a:rPr i="0" lang="en" sz="1100" u="none" cap="none" strike="noStrike">
                <a:solidFill>
                  <a:srgbClr val="000000"/>
                </a:solidFill>
                <a:latin typeface="Poppins"/>
                <a:ea typeface="Poppins"/>
                <a:cs typeface="Poppins"/>
                <a:sym typeface="Poppins"/>
              </a:rPr>
              <a:t>These scale with your operations, which include raw materials, shipping, transaction fees, or cloud storage. They are typically tied to volume or revenue. Accurately estimating them helps protect your margins and ensures you are not overcommitting as you grow.</a:t>
            </a:r>
            <a:endParaRPr i="0" sz="1100" u="none" cap="none" strike="noStrike">
              <a:solidFill>
                <a:srgbClr val="000000"/>
              </a:solidFill>
              <a:latin typeface="Poppins"/>
              <a:ea typeface="Poppins"/>
              <a:cs typeface="Poppins"/>
              <a:sym typeface="Poppins"/>
            </a:endParaRPr>
          </a:p>
        </p:txBody>
      </p:sp>
      <p:sp>
        <p:nvSpPr>
          <p:cNvPr id="71" name="Google Shape;71;p15"/>
          <p:cNvSpPr/>
          <p:nvPr/>
        </p:nvSpPr>
        <p:spPr>
          <a:xfrm>
            <a:off x="249960" y="3104553"/>
            <a:ext cx="1641600" cy="731100"/>
          </a:xfrm>
          <a:prstGeom prst="rect">
            <a:avLst/>
          </a:prstGeom>
          <a:solidFill>
            <a:schemeClr val="accen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i="0" lang="en" sz="1200" u="none" cap="none" strike="noStrike">
                <a:solidFill>
                  <a:schemeClr val="lt1"/>
                </a:solidFill>
                <a:latin typeface="Poppins"/>
                <a:ea typeface="Poppins"/>
                <a:cs typeface="Poppins"/>
                <a:sym typeface="Poppins"/>
              </a:rPr>
              <a:t>One-Time Costs / Capital Expenditure (CapEx)</a:t>
            </a:r>
            <a:endParaRPr i="0" sz="1200" u="none" cap="none" strike="noStrike">
              <a:solidFill>
                <a:schemeClr val="lt1"/>
              </a:solidFill>
              <a:latin typeface="Poppins"/>
              <a:ea typeface="Poppins"/>
              <a:cs typeface="Poppins"/>
              <a:sym typeface="Poppins"/>
            </a:endParaRPr>
          </a:p>
        </p:txBody>
      </p:sp>
      <p:sp>
        <p:nvSpPr>
          <p:cNvPr id="72" name="Google Shape;72;p15"/>
          <p:cNvSpPr/>
          <p:nvPr/>
        </p:nvSpPr>
        <p:spPr>
          <a:xfrm>
            <a:off x="2057424" y="3066904"/>
            <a:ext cx="6300300" cy="806400"/>
          </a:xfrm>
          <a:prstGeom prst="roundRect">
            <a:avLst>
              <a:gd fmla="val 16667" name="adj"/>
            </a:avLst>
          </a:prstGeom>
          <a:solidFill>
            <a:schemeClr val="l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222250" lvl="0" marL="215900" marR="0" rtl="0" algn="l">
              <a:lnSpc>
                <a:spcPct val="100000"/>
              </a:lnSpc>
              <a:spcBef>
                <a:spcPts val="0"/>
              </a:spcBef>
              <a:spcAft>
                <a:spcPts val="0"/>
              </a:spcAft>
              <a:buClr>
                <a:srgbClr val="000000"/>
              </a:buClr>
              <a:buSzPts val="1100"/>
              <a:buFont typeface="Poppins"/>
              <a:buChar char="•"/>
            </a:pPr>
            <a:r>
              <a:rPr i="0" lang="en" sz="1100" u="none" cap="none" strike="noStrike">
                <a:solidFill>
                  <a:srgbClr val="000000"/>
                </a:solidFill>
                <a:latin typeface="Poppins"/>
                <a:ea typeface="Poppins"/>
                <a:cs typeface="Poppins"/>
                <a:sym typeface="Poppins"/>
              </a:rPr>
              <a:t>These are up-front investments such as laptops, manufacturing equipment, app development, or initial legal setup. Since they do not recur monthly, they are tracked separately from your operating budget but still shape your funding needs and early cash flow.</a:t>
            </a:r>
            <a:endParaRPr i="0" sz="1100" u="none" cap="none" strike="noStrike">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p:nvPr/>
        </p:nvSpPr>
        <p:spPr>
          <a:xfrm>
            <a:off x="417007" y="1032468"/>
            <a:ext cx="1650300" cy="731100"/>
          </a:xfrm>
          <a:prstGeom prst="rect">
            <a:avLst/>
          </a:prstGeom>
          <a:solidFill>
            <a:schemeClr val="accen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Poppins"/>
                <a:ea typeface="Poppins"/>
                <a:cs typeface="Poppins"/>
                <a:sym typeface="Poppins"/>
              </a:rPr>
              <a:t>Cash Flow Tracking</a:t>
            </a:r>
            <a:endParaRPr b="0" i="0" sz="1200" u="none" cap="none" strike="noStrike">
              <a:solidFill>
                <a:schemeClr val="lt1"/>
              </a:solidFill>
              <a:latin typeface="Poppins"/>
              <a:ea typeface="Poppins"/>
              <a:cs typeface="Poppins"/>
              <a:sym typeface="Poppins"/>
            </a:endParaRPr>
          </a:p>
        </p:txBody>
      </p:sp>
      <p:sp>
        <p:nvSpPr>
          <p:cNvPr id="78" name="Google Shape;78;p16"/>
          <p:cNvSpPr/>
          <p:nvPr/>
        </p:nvSpPr>
        <p:spPr>
          <a:xfrm>
            <a:off x="432079" y="2149091"/>
            <a:ext cx="1627800" cy="731100"/>
          </a:xfrm>
          <a:prstGeom prst="rect">
            <a:avLst/>
          </a:prstGeom>
          <a:solidFill>
            <a:schemeClr val="accen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Poppins"/>
                <a:ea typeface="Poppins"/>
                <a:cs typeface="Poppins"/>
                <a:sym typeface="Poppins"/>
              </a:rPr>
              <a:t>Runway Calculation</a:t>
            </a:r>
            <a:endParaRPr b="0" i="0" sz="1200" u="none" cap="none" strike="noStrike">
              <a:solidFill>
                <a:schemeClr val="lt1"/>
              </a:solidFill>
              <a:latin typeface="Poppins"/>
              <a:ea typeface="Poppins"/>
              <a:cs typeface="Poppins"/>
              <a:sym typeface="Poppins"/>
            </a:endParaRPr>
          </a:p>
        </p:txBody>
      </p:sp>
      <p:sp>
        <p:nvSpPr>
          <p:cNvPr id="79" name="Google Shape;79;p16"/>
          <p:cNvSpPr/>
          <p:nvPr/>
        </p:nvSpPr>
        <p:spPr>
          <a:xfrm>
            <a:off x="2293535" y="987252"/>
            <a:ext cx="6315300" cy="852900"/>
          </a:xfrm>
          <a:prstGeom prst="roundRect">
            <a:avLst>
              <a:gd fmla="val 16667" name="adj"/>
            </a:avLst>
          </a:prstGeom>
          <a:solidFill>
            <a:schemeClr val="l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222250" lvl="0" marL="215900" marR="0" rtl="0" algn="l">
              <a:lnSpc>
                <a:spcPct val="100000"/>
              </a:lnSpc>
              <a:spcBef>
                <a:spcPts val="0"/>
              </a:spcBef>
              <a:spcAft>
                <a:spcPts val="0"/>
              </a:spcAft>
              <a:buClr>
                <a:srgbClr val="000000"/>
              </a:buClr>
              <a:buSzPts val="1100"/>
              <a:buFont typeface="Poppins"/>
              <a:buChar char="•"/>
            </a:pPr>
            <a:r>
              <a:rPr i="0" lang="en" sz="1100" u="none" cap="none" strike="noStrike">
                <a:solidFill>
                  <a:srgbClr val="000000"/>
                </a:solidFill>
                <a:latin typeface="Poppins"/>
                <a:ea typeface="Poppins"/>
                <a:cs typeface="Poppins"/>
                <a:sym typeface="Poppins"/>
              </a:rPr>
              <a:t>It is not just about how much money you make or spend, it is about when that happens.Timing mismatches can lead to cash shortfalls even if you are profitable on paper. Building a month-by-month cash flow tracker helps manage liquidity and avoid crises.</a:t>
            </a:r>
            <a:endParaRPr i="0" sz="1100" u="none" cap="none" strike="noStrike">
              <a:solidFill>
                <a:srgbClr val="000000"/>
              </a:solidFill>
              <a:latin typeface="Poppins"/>
              <a:ea typeface="Poppins"/>
              <a:cs typeface="Poppins"/>
              <a:sym typeface="Poppins"/>
            </a:endParaRPr>
          </a:p>
        </p:txBody>
      </p:sp>
      <p:sp>
        <p:nvSpPr>
          <p:cNvPr id="80" name="Google Shape;80;p16"/>
          <p:cNvSpPr/>
          <p:nvPr/>
        </p:nvSpPr>
        <p:spPr>
          <a:xfrm>
            <a:off x="2309863" y="2117691"/>
            <a:ext cx="6306600" cy="817800"/>
          </a:xfrm>
          <a:prstGeom prst="roundRect">
            <a:avLst>
              <a:gd fmla="val 16667" name="adj"/>
            </a:avLst>
          </a:prstGeom>
          <a:solidFill>
            <a:schemeClr val="l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222250" lvl="0" marL="215900" marR="0" rtl="0" algn="l">
              <a:lnSpc>
                <a:spcPct val="100000"/>
              </a:lnSpc>
              <a:spcBef>
                <a:spcPts val="0"/>
              </a:spcBef>
              <a:spcAft>
                <a:spcPts val="0"/>
              </a:spcAft>
              <a:buClr>
                <a:srgbClr val="000000"/>
              </a:buClr>
              <a:buSzPts val="1100"/>
              <a:buFont typeface="Poppins"/>
              <a:buChar char="•"/>
            </a:pPr>
            <a:r>
              <a:rPr i="0" lang="en" sz="1100" u="none" cap="none" strike="noStrike">
                <a:solidFill>
                  <a:srgbClr val="000000"/>
                </a:solidFill>
                <a:latin typeface="Poppins"/>
                <a:ea typeface="Poppins"/>
                <a:cs typeface="Poppins"/>
                <a:sym typeface="Poppins"/>
              </a:rPr>
              <a:t>This tells you how many months your startup can continue operating with the available cash before needing additional funding. It is a dynamic metric because both cash reserves and monthly expenses can change. Knowing your runway helps you time fundraising, plan pivots, or adjust costs when needed.</a:t>
            </a:r>
            <a:endParaRPr i="0" sz="1100" u="none" cap="none" strike="noStrike">
              <a:solidFill>
                <a:srgbClr val="000000"/>
              </a:solidFill>
              <a:latin typeface="Poppins"/>
              <a:ea typeface="Poppins"/>
              <a:cs typeface="Poppins"/>
              <a:sym typeface="Poppins"/>
            </a:endParaRPr>
          </a:p>
        </p:txBody>
      </p:sp>
      <p:sp>
        <p:nvSpPr>
          <p:cNvPr id="81" name="Google Shape;81;p16"/>
          <p:cNvSpPr/>
          <p:nvPr/>
        </p:nvSpPr>
        <p:spPr>
          <a:xfrm>
            <a:off x="447151" y="3228031"/>
            <a:ext cx="1643100" cy="731100"/>
          </a:xfrm>
          <a:prstGeom prst="rect">
            <a:avLst/>
          </a:prstGeom>
          <a:solidFill>
            <a:schemeClr val="accen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Poppins"/>
                <a:ea typeface="Poppins"/>
                <a:cs typeface="Poppins"/>
                <a:sym typeface="Poppins"/>
              </a:rPr>
              <a:t>Contingency Buffer</a:t>
            </a:r>
            <a:endParaRPr b="0" i="0" sz="1200" u="none" cap="none" strike="noStrike">
              <a:solidFill>
                <a:schemeClr val="lt1"/>
              </a:solidFill>
              <a:latin typeface="Poppins"/>
              <a:ea typeface="Poppins"/>
              <a:cs typeface="Poppins"/>
              <a:sym typeface="Poppins"/>
            </a:endParaRPr>
          </a:p>
        </p:txBody>
      </p:sp>
      <p:sp>
        <p:nvSpPr>
          <p:cNvPr id="82" name="Google Shape;82;p16"/>
          <p:cNvSpPr/>
          <p:nvPr/>
        </p:nvSpPr>
        <p:spPr>
          <a:xfrm>
            <a:off x="2311123" y="3196631"/>
            <a:ext cx="6306600" cy="817800"/>
          </a:xfrm>
          <a:prstGeom prst="roundRect">
            <a:avLst>
              <a:gd fmla="val 16667" name="adj"/>
            </a:avLst>
          </a:prstGeom>
          <a:solidFill>
            <a:schemeClr val="lt1"/>
          </a:solidFill>
          <a:ln cap="flat" cmpd="sng" w="25400">
            <a:solidFill>
              <a:srgbClr val="0B4960"/>
            </a:solidFill>
            <a:prstDash val="solid"/>
            <a:round/>
            <a:headEnd len="sm" w="sm" type="none"/>
            <a:tailEnd len="sm" w="sm" type="none"/>
          </a:ln>
        </p:spPr>
        <p:txBody>
          <a:bodyPr anchorCtr="0" anchor="ctr" bIns="34275" lIns="68575" spcFirstLastPara="1" rIns="68575" wrap="square" tIns="34275">
            <a:noAutofit/>
          </a:bodyPr>
          <a:lstStyle/>
          <a:p>
            <a:pPr indent="-222250" lvl="0" marL="215900" marR="0" rtl="0" algn="l">
              <a:lnSpc>
                <a:spcPct val="100000"/>
              </a:lnSpc>
              <a:spcBef>
                <a:spcPts val="0"/>
              </a:spcBef>
              <a:spcAft>
                <a:spcPts val="0"/>
              </a:spcAft>
              <a:buClr>
                <a:srgbClr val="000000"/>
              </a:buClr>
              <a:buSzPts val="1100"/>
              <a:buFont typeface="Poppins"/>
              <a:buChar char="•"/>
            </a:pPr>
            <a:r>
              <a:rPr i="0" lang="en" sz="1100" u="none" cap="none" strike="noStrike">
                <a:solidFill>
                  <a:srgbClr val="000000"/>
                </a:solidFill>
                <a:latin typeface="Poppins"/>
                <a:ea typeface="Poppins"/>
                <a:cs typeface="Poppins"/>
                <a:sym typeface="Poppins"/>
              </a:rPr>
              <a:t>Uncertainty is inevitable. That is why most startup budgets include a 10–20% buffer over planned costs. Whether it is a surprise tax bill or an unplanned feature build, this margin helps you absorb shocks without </a:t>
            </a:r>
            <a:r>
              <a:rPr i="0" lang="en" sz="1100" u="none" cap="none" strike="noStrike">
                <a:solidFill>
                  <a:srgbClr val="00B050"/>
                </a:solidFill>
                <a:latin typeface="Poppins"/>
                <a:ea typeface="Poppins"/>
                <a:cs typeface="Poppins"/>
                <a:sym typeface="Poppins"/>
              </a:rPr>
              <a:t>derailing operations</a:t>
            </a:r>
            <a:r>
              <a:rPr i="0" lang="en" sz="1100" u="none" cap="none" strike="noStrike">
                <a:solidFill>
                  <a:srgbClr val="000000"/>
                </a:solidFill>
                <a:latin typeface="Poppins"/>
                <a:ea typeface="Poppins"/>
                <a:cs typeface="Poppins"/>
                <a:sym typeface="Poppins"/>
              </a:rPr>
              <a:t>.</a:t>
            </a:r>
            <a:endParaRPr i="0" sz="1100" u="none" cap="none" strike="noStrike">
              <a:solidFill>
                <a:srgbClr val="000000"/>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