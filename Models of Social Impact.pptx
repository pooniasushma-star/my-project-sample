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jaH0EYCJjRp06CtRnpthK0l9aG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67620631c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67620631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7620631c8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7620631c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0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0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" name="Google Shape;21;p1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0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2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" name="Google Shape;39;p12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4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4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?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?"/>
              <a:defRPr sz="1600"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71" name="Google Shape;71;p17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5" name="Google Shape;75;p17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" type="body"/>
          </p:nvPr>
        </p:nvSpPr>
        <p:spPr>
          <a:xfrm rot="5400000">
            <a:off x="3872485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9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8" name="Google Shape;88;p19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8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7620631c8_0_0"/>
          <p:cNvSpPr txBox="1"/>
          <p:nvPr/>
        </p:nvSpPr>
        <p:spPr>
          <a:xfrm>
            <a:off x="1941700" y="2342600"/>
            <a:ext cx="8882400" cy="12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Models of Social Impact</a:t>
            </a:r>
            <a:endParaRPr b="1" sz="4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6438508" y="141402"/>
            <a:ext cx="5542961" cy="6617617"/>
          </a:xfrm>
          <a:prstGeom prst="roundRect">
            <a:avLst>
              <a:gd fmla="val 16667" name="adj"/>
            </a:avLst>
          </a:prstGeom>
          <a:solidFill>
            <a:schemeClr val="accent1">
              <a:alpha val="22352"/>
            </a:schemeClr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3563333" y="103695"/>
            <a:ext cx="1536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NO 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0" y="575035"/>
            <a:ext cx="4515439" cy="754144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One-for-One Model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447773" y="1627463"/>
            <a:ext cx="540627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Idea: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One purchase = One donation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customer’s purchase funds an equivalent product/service for someone in need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 Fit: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Tangible goods with clear parity (e.g., shoes, glasses)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004116" y="622169"/>
            <a:ext cx="43836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Imagine a social enterprise selling reusable menstrual products. For every pack sold, one is donated to adolescent girls in rural schools. It is direct, traceable, and emotionally compelling,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yet the model becomes fragile if production or logistics costs rise, or donor fatigue sets in.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6977406" y="3385794"/>
            <a:ext cx="438346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Works well for awareness-driven, retail-friendly causes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Risks include dependency and sustainability if social need exceeds consumer demand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4774676" y="5725221"/>
            <a:ext cx="609914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https://www.freepik.com/free-vector/people-donating-sanitary-material_7851962.htm#fromView=search&amp;page=1&amp;position=2&amp;uuid=71a06e23-08f7-4ec2-998b-8e53a4e47ce6&amp;query=donation+medical+supplies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8634953" y="5137608"/>
            <a:ext cx="21587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Alt text: Donation drive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/>
          <p:nvPr/>
        </p:nvSpPr>
        <p:spPr>
          <a:xfrm>
            <a:off x="6438508" y="141402"/>
            <a:ext cx="5542961" cy="6617617"/>
          </a:xfrm>
          <a:prstGeom prst="roundRect">
            <a:avLst>
              <a:gd fmla="val 16667" name="adj"/>
            </a:avLst>
          </a:prstGeom>
          <a:solidFill>
            <a:schemeClr val="accent1">
              <a:alpha val="22352"/>
            </a:schemeClr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3563333" y="103695"/>
            <a:ext cx="1536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NO 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0" y="575035"/>
            <a:ext cx="4515439" cy="754144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Cross-Subsidy Model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447773" y="1627463"/>
            <a:ext cx="540627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Idea: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Profits from one segment fund another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High-margin products/services to wealthier users subsidise low-cost access for underserved populations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 Fit: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Health, education, financial services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66627" y="3892799"/>
            <a:ext cx="55101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model leverages price differentiation to serve dual markets. It: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Identify paying customer base with higher ability to pay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 revenue to cover operational costs and subsidise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Create integrated delivery that does n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 </a:t>
            </a:r>
            <a:r>
              <a:rPr b="0" i="0" lang="en-US" sz="18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stigmatise beneficiaries</a:t>
            </a:r>
            <a:endParaRPr b="0" i="0" sz="1800" u="none" cap="none" strike="noStrik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7004116" y="622169"/>
            <a:ext cx="4383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classic case is Aravind Eye Care in India: patients who can afford pay for premium eye surgeries, effectively covering costs for those who cannot. It 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 not charity,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i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 a </a:t>
            </a: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market mechanism that embeds </a:t>
            </a:r>
            <a:r>
              <a:rPr b="1" i="0" lang="en-US" sz="18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equity into operations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6977406" y="3385794"/>
            <a:ext cx="438346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Highly scalable with the right volume and infrastructure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Requires operational efficiency and brand trust to sustain both ends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634953" y="5137608"/>
            <a:ext cx="21587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Alt text: A doctor checking eye sight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5161175" y="5928989"/>
            <a:ext cx="6099142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https://www.freepik.com/free-vector/ophthalmologist-horizontal-background-with-doctor-hospital-uniform-doing-medical-checkup-diagnosis-patient-sight-flat-vector-illustration_37421802.htm#fromView=search&amp;page=1&amp;position=0&amp;uuid=b11aa652-03a5-4520-ba97-858ab865aa5f&amp;query=eye+surg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"/>
          <p:cNvSpPr/>
          <p:nvPr/>
        </p:nvSpPr>
        <p:spPr>
          <a:xfrm>
            <a:off x="6438508" y="141402"/>
            <a:ext cx="5542961" cy="6617617"/>
          </a:xfrm>
          <a:prstGeom prst="roundRect">
            <a:avLst>
              <a:gd fmla="val 16667" name="adj"/>
            </a:avLst>
          </a:prstGeom>
          <a:solidFill>
            <a:schemeClr val="accent1">
              <a:alpha val="22352"/>
            </a:schemeClr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3563333" y="103695"/>
            <a:ext cx="1536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NO 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0" y="575035"/>
            <a:ext cx="4515439" cy="754144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Fee-for-Service Model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447773" y="1627463"/>
            <a:ext cx="540627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Idea: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Beneficiaries pay directly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enterprise charges a fee for services rendered, even to low-income 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 Fit: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Health camps, training, utility services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7004116" y="622169"/>
            <a:ext cx="438346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 example is VisionSpring, which offers low-cost eyeglasses through affordable eye tests.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6949125" y="2245151"/>
            <a:ext cx="43834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Works best where willingness to pay is strong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Challenging in ultra-poor contexts without external supports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8634953" y="5137608"/>
            <a:ext cx="21587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Alt text: A Woman testing eye glasses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4312763" y="5932610"/>
            <a:ext cx="6099142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https://www.freepik.com/free-vector/optical-shop-concept-illustration_18493605.htm#fromView=search&amp;page=1&amp;position=0&amp;uuid=bec9a3e9-bc6a-4f7a-8d42-7b1882d5f4b9&amp;query=eye+glasses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6438508" y="141402"/>
            <a:ext cx="5542961" cy="6617617"/>
          </a:xfrm>
          <a:prstGeom prst="roundRect">
            <a:avLst>
              <a:gd fmla="val 16667" name="adj"/>
            </a:avLst>
          </a:prstGeom>
          <a:solidFill>
            <a:schemeClr val="accent1">
              <a:alpha val="22352"/>
            </a:schemeClr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4"/>
          <p:cNvSpPr txBox="1"/>
          <p:nvPr/>
        </p:nvSpPr>
        <p:spPr>
          <a:xfrm>
            <a:off x="3563333" y="103695"/>
            <a:ext cx="1536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NO 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575035"/>
            <a:ext cx="4515439" cy="933254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Low-Margin; High-Volume Model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p4"/>
          <p:cNvSpPr txBox="1"/>
          <p:nvPr/>
        </p:nvSpPr>
        <p:spPr>
          <a:xfrm>
            <a:off x="447773" y="1627463"/>
            <a:ext cx="540627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Idea: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Scale drives sustainability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Operates on minimal profits per unit, banking on large-scale adoption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 Fit: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Fast-moving essential goods, basic healthcare, education tech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7004116" y="622169"/>
            <a:ext cx="4383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social enterprise distributing solar lamps in remote villages at </a:t>
            </a: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₹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200/unit may earn a tiny margin—but selling 10,000 lamps monthly sustains the business and impact. Volume is both mission and metric.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4"/>
          <p:cNvSpPr txBox="1"/>
          <p:nvPr/>
        </p:nvSpPr>
        <p:spPr>
          <a:xfrm>
            <a:off x="6996259" y="2773052"/>
            <a:ext cx="43834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Requires upfront investment and lean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 struggle if scale dips or margins are under pressure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8634953" y="5137608"/>
            <a:ext cx="21587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Alt text: Solar lamps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 txBox="1"/>
          <p:nvPr/>
        </p:nvSpPr>
        <p:spPr>
          <a:xfrm>
            <a:off x="5316718" y="5718696"/>
            <a:ext cx="6108568" cy="50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https://www.freepik.com/premium-vector/solar-powered-street-light-vector-renewable-energy-illustration-ecofriendly-lighting-designs_412839133.htm#fromView=search&amp;page=1&amp;position=10&amp;uuid=cde2f113-a03c-4db4-9ebd-0fbd9736350e&amp;query=solar+lamps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"/>
          <p:cNvSpPr/>
          <p:nvPr/>
        </p:nvSpPr>
        <p:spPr>
          <a:xfrm>
            <a:off x="6438508" y="141402"/>
            <a:ext cx="5542961" cy="6617617"/>
          </a:xfrm>
          <a:prstGeom prst="roundRect">
            <a:avLst>
              <a:gd fmla="val 16667" name="adj"/>
            </a:avLst>
          </a:prstGeom>
          <a:solidFill>
            <a:schemeClr val="accent1">
              <a:alpha val="22352"/>
            </a:schemeClr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3563333" y="103695"/>
            <a:ext cx="1536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NO 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0" y="575035"/>
            <a:ext cx="4515439" cy="707010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Licensing &amp; Franchising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447773" y="1627463"/>
            <a:ext cx="540627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Idea: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Local partners replicate the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Trained franchisees or licensees deliver products/services under the original brand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 Fit: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Education, micro-retail, health delivery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5"/>
          <p:cNvSpPr txBox="1"/>
          <p:nvPr/>
        </p:nvSpPr>
        <p:spPr>
          <a:xfrm>
            <a:off x="7004116" y="622169"/>
            <a:ext cx="4383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Bridge International Academies is a standout example where franchised schools follow a shared curriculum and training model.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5"/>
          <p:cNvSpPr txBox="1"/>
          <p:nvPr/>
        </p:nvSpPr>
        <p:spPr>
          <a:xfrm>
            <a:off x="6996259" y="2773052"/>
            <a:ext cx="438346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Reduces central delivery load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Quality control and brand dilution are common risks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8634953" y="5137608"/>
            <a:ext cx="21587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Alt text: A school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5208309" y="5932611"/>
            <a:ext cx="6099142" cy="6001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https://www.freepik.com/free-vector/school-building-sunset-scene_5098448.htm#fromView=search&amp;page=1&amp;position=18&amp;uuid=3ef488c8-5068-49d2-a037-622799950a40&amp;query=Franchised+school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6438508" y="141402"/>
            <a:ext cx="5542961" cy="6617617"/>
          </a:xfrm>
          <a:prstGeom prst="roundRect">
            <a:avLst>
              <a:gd fmla="val 16667" name="adj"/>
            </a:avLst>
          </a:prstGeom>
          <a:solidFill>
            <a:schemeClr val="accent1">
              <a:alpha val="22352"/>
            </a:schemeClr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0" name="Google Shape;160;p6"/>
          <p:cNvSpPr txBox="1"/>
          <p:nvPr/>
        </p:nvSpPr>
        <p:spPr>
          <a:xfrm>
            <a:off x="3563333" y="103695"/>
            <a:ext cx="1536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NO 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0" y="575034"/>
            <a:ext cx="4515439" cy="782425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Platform or Marketplace Models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447773" y="1627463"/>
            <a:ext cx="540627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Idea: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Tech-enabled matchmaking for services or products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Connects service providers with end-users through a shared platform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 Fit: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Agriculture, employment, education, skill matching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457201" y="3807957"/>
            <a:ext cx="5509967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purpose of this model is to act as a bridge—connecting people who have something to offer with those who need it, so that social impact can happen at scale without owning or delivering the service directly.</a:t>
            </a:r>
            <a:endParaRPr b="0" i="0" sz="1800" u="none" cap="none" strike="noStrik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4" name="Google Shape;164;p6"/>
          <p:cNvSpPr txBox="1"/>
          <p:nvPr/>
        </p:nvSpPr>
        <p:spPr>
          <a:xfrm>
            <a:off x="7004116" y="622169"/>
            <a:ext cx="438346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Platforms like Rang De (peer-to-peer micro-lending) or Aajeevika Bureau (migrant labour support) connect impact seekers and impact providers through digital tools. Network effects fuel growth here—the more users, the stronger the platform becomes.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6"/>
          <p:cNvSpPr txBox="1"/>
          <p:nvPr/>
        </p:nvSpPr>
        <p:spPr>
          <a:xfrm>
            <a:off x="6996259" y="3310380"/>
            <a:ext cx="43834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Fast to scale, but dependent on digital literacy and trust-building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Requires continual tech and data refinement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5641942" y="5178466"/>
            <a:ext cx="6099142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https://www.freepik.com/free-vector/flat-world-refugee-day-illustration_44420843.htm#fromView=search&amp;page=1&amp;position=4&amp;uuid=cbe4274a-1b69-4c09-9338-4ea42f6e52c7&amp;query=migrant+labour+support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8512404" y="5806912"/>
            <a:ext cx="21587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Alt text: Migrant support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"/>
          <p:cNvSpPr/>
          <p:nvPr/>
        </p:nvSpPr>
        <p:spPr>
          <a:xfrm>
            <a:off x="6438508" y="141402"/>
            <a:ext cx="5542961" cy="6617617"/>
          </a:xfrm>
          <a:prstGeom prst="roundRect">
            <a:avLst>
              <a:gd fmla="val 16667" name="adj"/>
            </a:avLst>
          </a:prstGeom>
          <a:solidFill>
            <a:schemeClr val="accent1">
              <a:alpha val="22352"/>
            </a:schemeClr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3563333" y="103695"/>
            <a:ext cx="15365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Poppins"/>
                <a:ea typeface="Poppins"/>
                <a:cs typeface="Poppins"/>
                <a:sym typeface="Poppins"/>
              </a:rPr>
              <a:t>NO 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0" y="575034"/>
            <a:ext cx="4515439" cy="782425"/>
          </a:xfrm>
          <a:prstGeom prst="rect">
            <a:avLst/>
          </a:prstGeom>
          <a:solidFill>
            <a:schemeClr val="accent1"/>
          </a:solidFill>
          <a:ln cap="flat" cmpd="sng" w="15875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Open-Source or Commons-based Models</a:t>
            </a:r>
            <a:endParaRPr b="1" i="0" sz="2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447773" y="1627463"/>
            <a:ext cx="540627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Idea: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Shared resources for collective use and innovation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How It Works: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Freely available content, tools, or platforms foster collaborative problem-solving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Best Fit: 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Education, tech development, civic engagement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6" name="Google Shape;176;p7"/>
          <p:cNvSpPr txBox="1"/>
          <p:nvPr/>
        </p:nvSpPr>
        <p:spPr>
          <a:xfrm>
            <a:off x="457201" y="3807957"/>
            <a:ext cx="5509967" cy="1200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This model leans into community innovation.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 prioritises co-creation over control ideal in knowledge-intensive or </a:t>
            </a:r>
            <a:r>
              <a:rPr b="0" i="0" lang="en-US" sz="18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decentralised initiatives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800" u="none" cap="none" strike="noStrike">
              <a:solidFill>
                <a:srgbClr val="00B05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7004116" y="622169"/>
            <a:ext cx="4383464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Example: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nonprofit releases its curriculum and teacher training toolkit under </a:t>
            </a:r>
            <a:r>
              <a:rPr b="0" i="0" lang="en-US" sz="18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Creative Commons</a:t>
            </a: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encouraging NGOs worldwide to adapt and scale it locally without licensing barriers.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7"/>
          <p:cNvSpPr txBox="1"/>
          <p:nvPr/>
        </p:nvSpPr>
        <p:spPr>
          <a:xfrm>
            <a:off x="6996259" y="3310380"/>
            <a:ext cx="4383464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Evaluation: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Great for </a:t>
            </a:r>
            <a:r>
              <a:rPr b="0" i="0" lang="en-US" sz="1800" u="none" cap="none" strike="noStrike">
                <a:solidFill>
                  <a:srgbClr val="00B050"/>
                </a:solidFill>
                <a:latin typeface="Poppins"/>
                <a:ea typeface="Poppins"/>
                <a:cs typeface="Poppins"/>
                <a:sym typeface="Poppins"/>
              </a:rPr>
              <a:t>democratising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Sustainability depends on voluntary contribution or hybrid funding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7"/>
          <p:cNvSpPr txBox="1"/>
          <p:nvPr/>
        </p:nvSpPr>
        <p:spPr>
          <a:xfrm>
            <a:off x="8512404" y="5806912"/>
            <a:ext cx="215873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Alt text: webpage search concept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7"/>
          <p:cNvSpPr txBox="1"/>
          <p:nvPr/>
        </p:nvSpPr>
        <p:spPr>
          <a:xfrm>
            <a:off x="6092858" y="4867382"/>
            <a:ext cx="6099142" cy="577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0000"/>
                </a:solidFill>
                <a:highlight>
                  <a:srgbClr val="FFFF00"/>
                </a:highlight>
                <a:latin typeface="Twentieth Century"/>
                <a:ea typeface="Twentieth Century"/>
                <a:cs typeface="Twentieth Century"/>
                <a:sym typeface="Twentieth Century"/>
              </a:rPr>
              <a:t>https://www.freepik.com/free-vector/www-concept-illustration_8426454.htm#fromView=search&amp;page=1&amp;position=4&amp;uuid=0ed4241c-8651-46c8-b554-d28df6cae0fa&amp;query=wikipideia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7620631c8_0_4"/>
          <p:cNvSpPr/>
          <p:nvPr/>
        </p:nvSpPr>
        <p:spPr>
          <a:xfrm>
            <a:off x="1363325" y="2751150"/>
            <a:ext cx="9612300" cy="939600"/>
          </a:xfrm>
          <a:prstGeom prst="rect">
            <a:avLst/>
          </a:prstGeom>
          <a:solidFill>
            <a:srgbClr val="1CADE4"/>
          </a:solidFill>
          <a:ln cap="flat" cmpd="sng" w="25400">
            <a:solidFill>
              <a:srgbClr val="0B49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Choosing the right delivery model is not about trends, it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</a:t>
            </a: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 about alignment with the </a:t>
            </a: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mission, market realities, and user context</a:t>
            </a: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Effective social enterprises often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combine</a:t>
            </a: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elements across models, adapting over time.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2025-06-02T01:28:09Z</dcterms:created>
  <dc:creator>Sushma Poonia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7E716333-A936-4201-B861-2CF3D6810F04</vt:lpwstr>
  </property>
  <property fmtid="{D5CDD505-2E9C-101B-9397-08002B2CF9AE}" pid="3" name="ArticulatePath">
    <vt:lpwstr>Presentation1</vt:lpwstr>
  </property>
</Properties>
</file>